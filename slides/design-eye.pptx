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도입</a:t>
            </a:r>
          </a:p>
          <a:p/>
          <a:p>
            <a:r>
              <a:t>발표 순서: SLIDE1 → NOTE2 → HOW_DESIGN_FROM_CC.</a:t>
            </a:r>
          </a:p>
          <a:p>
            <a:r>
              <a:t>도입 출처: The AI Automators, Here’s How to Give Claude an Eye for Design (6 easy steps), 2026-09-07.</a:t>
            </a:r>
          </a:p>
          <a:p>
            <a:r>
              <a:t>https://www.youtube.com/watch?v=1Y8OlBgafdE</a:t>
            </a:r>
          </a:p>
          <a:p>
            <a:r>
              <a:t>표지 Figure: 영상 속 Southside Brewing 결과 화면.</a:t>
            </a:r>
          </a:p>
          <a:p/>
          <a:p>
            <a:r>
              <a:t>이미지 출처:</a:t>
            </a:r>
          </a:p>
          <a:p>
            <a:r>
              <a:t>assets/guide1-mov/crops/51-southside-brewing.png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사용자 첨부 이미지</a:t>
            </a:r>
          </a:p>
          <a:p/>
          <a:p>
            <a:r>
              <a:t>커버 바로 다음 장에 배치한 AI slop 이미지. 원본 비율과 전체 영역을 유지한다.</a:t>
            </a:r>
          </a:p>
          <a:p/>
          <a:p>
            <a:r>
              <a:t>이미지 출처:</a:t>
            </a:r>
          </a:p>
          <a:p>
            <a:r>
              <a:t>slides/img/ai-slop.jpg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§1</a:t>
            </a:r>
          </a:p>
          <a:p/>
          <a:p>
            <a:r>
              <a:t>“현대적인 웹사이트”처럼 막연하게 요청하면 평균적인 디자인이 나온다는 영상의 프레스 비유. 학습 규모나 모델 이름은 원문의 주장이고 이 발표에서 별도로 검증한 실험 결과가 아니다.</a:t>
            </a:r>
          </a:p>
          <a:p/>
          <a:p>
            <a:r>
              <a:t>이미지 출처:</a:t>
            </a:r>
          </a:p>
          <a:p>
            <a:r>
              <a:t>assets/guide1-mov/crops/02-you-ask-for-prompt.png</a:t>
            </a:r>
          </a:p>
          <a:p>
            <a:r>
              <a:t>assets/guide1-mov/crops/03-press-crushing.png</a:t>
            </a:r>
          </a:p>
          <a:p>
            <a:r>
              <a:t>assets/guide1-mov/crops/04-average-website-mockup.png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§2</a:t>
            </a:r>
          </a:p>
          <a:p/>
          <a:p>
            <a:r>
              <a:t>영화 감독과 배우의 비유. 사람은 레퍼런스로 방향을 정하고, Claude는 구현한다. ORYZO는 Southside Brewing의 움직임 참고 사이트다.</a:t>
            </a:r>
          </a:p>
          <a:p/>
          <a:p>
            <a:r>
              <a:t>이미지 출처:</a:t>
            </a:r>
          </a:p>
          <a:p>
            <a:r>
              <a:t>assets/guide1-mov/crops/09-film-slate.png</a:t>
            </a:r>
          </a:p>
          <a:p>
            <a:r>
              <a:t>assets/guide1-mov/crops/10-character-holding-reference.png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§2</a:t>
            </a:r>
          </a:p>
          <a:p/>
          <a:p>
            <a:r>
              <a:t>영상은 v1~v3가 기준선에 미치지 못하고 v4가 통과하는 모습으로 반복을 설명한다. 네 번이면 반드시 통과한다는 의미가 아니다.</a:t>
            </a:r>
          </a:p>
          <a:p/>
          <a:p>
            <a:r>
              <a:t>이미지 출처:</a:t>
            </a:r>
          </a:p>
          <a:p>
            <a:r>
              <a:t>assets/guide1-mov/crops/14-loop-diagram-cleared.png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§3</a:t>
            </a:r>
          </a:p>
          <a:p/>
          <a:p>
            <a:r>
              <a:t>MODERN, CLEAN 같은 형용사만 쌓는 것보다 FLOEMA, SON DAVEN, STUDIO 같은 시각 예시가 원하는 모습을 더 직접적으로 전달한다.</a:t>
            </a:r>
          </a:p>
          <a:p/>
          <a:p>
            <a:r>
              <a:t>이미지 출처:</a:t>
            </a:r>
          </a:p>
          <a:p>
            <a:r>
              <a:t>assets/guide1-mov/crops/18-style-adjective-chips.png</a:t>
            </a:r>
          </a:p>
          <a:p>
            <a:r>
              <a:t>assets/guide1-mov/crops/19-results-gauge-meh.png</a:t>
            </a:r>
          </a:p>
          <a:p>
            <a:r>
              <a:t>assets/guide1-mov/crops/25-example-cards-stack.png</a:t>
            </a:r>
          </a:p>
          <a:p>
            <a:r>
              <a:t>assets/guide1-mov/crops/22-results-gauge-much-better.png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SLIDE1.md · §3</a:t>
            </a:r>
          </a:p>
          <a:p/>
          <a:p>
            <a:r>
              <a:t>영상의 여섯 분류에서 웹사이트 갤러리와 실제 앱 화면을 Reference 하나로 묶어 다섯 분류로 정리한 SLIDE1의 구성을 따른다.</a:t>
            </a:r>
          </a:p>
          <a:p/>
          <a:p>
            <a:r>
              <a:t>이미지 출처:</a:t>
            </a:r>
          </a:p>
          <a:p>
            <a:r>
              <a:t>assets/guide1-mov/crops/42-category-galleries.png</a:t>
            </a:r>
          </a:p>
          <a:p>
            <a:r>
              <a:t>assets/guide1-mov/crops/43-category-real-apps.png</a:t>
            </a:r>
          </a:p>
          <a:p>
            <a:r>
              <a:t>assets/guide1-mov/crops/44-category-components.png</a:t>
            </a:r>
          </a:p>
          <a:p>
            <a:r>
              <a:t>assets/guide1-mov/crops/45-category-fonts.png</a:t>
            </a:r>
          </a:p>
          <a:p>
            <a:r>
              <a:t>assets/guide1-mov/crops/46-category-color.png</a:t>
            </a:r>
          </a:p>
          <a:p>
            <a:r>
              <a:t>assets/guide1-mov/crops/47-category-systems.png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제 생산성 앱의 랜딩 페이지를 만들어 주세요.</a:t>
            </a:r>
          </a:p>
          <a:p/>
          <a:p>
            <a:r>
              <a:t>거의 매번 보라색 계열의 그라데이션에 왼쪽에는 글, 오른쪽에는 그림이 놓인 똑같은 구조가 나옵니다. AI가 만든 다른 웹사이트와 다를 바가 없습니다.</a:t>
            </a:r>
          </a:p>
          <a:p/>
          <a:p>
            <a:r>
              <a:t>독특하거나 다양한 결과물을 만들어 달라고 요청하지 않았으니, 모델이 잘 아는 패턴을 되풀이하는 것은 이해할 만합니다. 하지만 다양하게 만들어 달라고 말하는 것만으로는 부족합니다.</a:t>
            </a:r>
          </a:p>
          <a:p/>
          <a:p>
            <a:r>
              <a:t>프롬프트:</a:t>
            </a:r>
          </a:p>
          <a:p/>
          <a:p>
            <a:r>
              <a:t>제 생산성 앱의 랜딩 페이지를 만들어 주세요. 아주 독특한 결과물을 원합니다. 디자인에 관한 모든 결정을 완전히 무작위로 내려 주세요.</a:t>
            </a:r>
          </a:p>
          <a:p/>
          <a:p>
            <a:r>
              <a:t>Claude Opus 5:</a:t>
            </a:r>
          </a:p>
          <a:p/>
          <a:p>
            <a:r>
              <a:t>결과물은 이전과 달라졌지만, 서로 비교하면 여전히 다양하지 않습니다. 모델은 늘 같은 색 조합과 구조를 쓰고, 어색한 도자기 비유까지 똑같이 사용합니다. 실제로 무작위인 토큰이 아니라 무작위처럼 들리는 토큰을 예측하기 때문입니다.</a:t>
            </a:r>
          </a:p>
          <a:p/>
          <a:p>
            <a:r>
              <a:t>문제는 모델이 본래 스스로 무작위로 행동할 수 없다는 점입니다. 모델은 다음에 올 가능성이 가장 높은 토큰을 예측할 수 있을 뿐입니다. 다양한 결과를 얻으려면 모델 밖에서 변화를 가져와야 합니다. 그 방법 중 하나가 Sakana AI가 발표한 String Seed of Thought입니다. AI에게 무작위 문자열을 생성하게 하고, 그 문자열에서 디자인 영감을 얻도록 합니다. 그러면 모델은 매번 실제로 다른 결정을 내리게 됩니다.</a:t>
            </a:r>
          </a:p>
          <a:p/>
          <a:p>
            <a:r>
              <a:t>이미지 출처:</a:t>
            </a:r>
          </a:p>
          <a:p>
            <a:r>
              <a:t>assets/how-to-turn-your-ai-into-a-world/figure-05-7b59bdf3-8a82-46d1-94c2-4a1e60ea7cbf_1456x894.jpg</a:t>
            </a:r>
          </a:p>
          <a:p>
            <a:r>
              <a:t>assets/how-to-turn-your-ai-into-a-world/figure-06-f37064a7-2853-4314-b175-aa65b8a13f43_1456x876.jpg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문제는 모델이 본래 스스로 무작위로 행동할 수 없다는 점입니다. 모델은 다음에 올 가능성이 가장 높은 토큰을 예측할 수 있을 뿐입니다. 다양한 결과를 얻으려면 모델 밖에서 변화를 가져와야 합니다. 그 방법 중 하나가 Sakana AI가 발표한 String Seed of Thought입니다. AI에게 무작위 문자열을 생성하게 하고, 그 문자열에서 디자인 영감을 얻도록 합니다. 그러면 모델은 매번 실제로 다른 결정을 내리게 됩니다.</a:t>
            </a:r>
          </a:p>
          <a:p/>
          <a:p>
            <a:r>
              <a:t>제 생산성 앱의 랜딩 페이지를 만들어 주세요.</a:t>
            </a:r>
          </a:p>
          <a:p/>
          <a:p>
            <a:r>
              <a:t>다음 순서대로 진행해 주세요.</a:t>
            </a:r>
          </a:p>
          <a:p/>
          <a:p>
            <a:r>
              <a:t>셸 스크립트로 영문자와 숫자가 섞인 긴 무작위 문자열을 생성해 주세요.</a:t>
            </a:r>
          </a:p>
          <a:p/>
          <a:p>
            <a:r>
              <a:t>그 문자열을 바탕으로 색 조합, 레이아웃, 타이포그래피 등 디자인 방향을 정해 주세요. 겉으로 보이는 것만 보지 말고, 문자열 안의 작은 패턴이나 특별한 숫자 등 영감을 줄 만한 요소를 찾아 주세요.</a:t>
            </a:r>
          </a:p>
          <a:p/>
          <a:p>
            <a:r>
              <a:t>직접 판단해서 이 방향을 실제 디자인으로 구현하고 멋지게 만들어 주세요.</a:t>
            </a:r>
          </a:p>
          <a:p/>
          <a:p>
            <a:r>
              <a:t>문자열은 디자인에 드러내지 마세요. 영감을 얻는 용도로만 사용해 주세요.</a:t>
            </a:r>
          </a:p>
          <a:p/>
          <a:p>
            <a:r>
              <a:t>Claude Opus 5:</a:t>
            </a:r>
          </a:p>
          <a:p/>
          <a:p>
            <a:r>
              <a:t>그러자 결과물이 훨씬 다양해졌습니다! 서로 다른 색 조합과 글꼴, 새로운 아이디어가 나타납니다. 앞의 디자인은 Claude를 쓰는 사람이라면 누구나 얻을 수 있는 결과였습니다. 이번 디자인은 각각 고유합니다. 두 번 실행해도 같은 결과가 나오지 않습니다.</a:t>
            </a:r>
          </a:p>
          <a:p/>
          <a:p>
            <a:r>
              <a:t>이미지 출처:</a:t>
            </a:r>
          </a:p>
          <a:p>
            <a:r>
              <a:t>assets/how-to-turn-your-ai-into-a-world/figure-07-bcda7156-dbbd-4d18-a7fb-4cfc124563bf_1456x876.jpg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모델을 적극적으로 유도하는 또 다른 방법은 프롬프트를 더 구체적이고 과감하게 작성하는 것입니다. 그러면 모델이 그때그때 임의로 결정하는 대신, 뚜렷한 방향을 기준으로 판단할 수 있습니다. 독특한 아이디어를 찾는 가장 좋은 방법은 자신의 취향을 반영하는 것입니다. 먼저 비디오 게임, 인테리어 유행, 설치 미술처럼 영감을 얻을 대상을 떠올립니다. 그런 다음 그 대상이 AI 결과물에 어떤 영향을 주면 좋을지 설명합니다. 몇 가지 예를 보겠습니다.</a:t>
            </a:r>
          </a:p>
          <a:p/>
          <a:p>
            <a:r>
              <a:t>“제 생산성 앱의 랜딩 페이지를 만들어 주세요. 과감한 픽셀 아트 테마와 멋진 그래픽을 사용해 주세요. 각 섹션이 비디오 게임의 한 장면처럼 느껴지면서도, 전체적으로는 랜딩 페이지의 역할을 하게 만들어 주세요.”</a:t>
            </a:r>
          </a:p>
          <a:p/>
          <a:p>
            <a:r>
              <a:t>이미지 출처:</a:t>
            </a:r>
          </a:p>
          <a:p>
            <a:r>
              <a:t>assets/how-to-turn-your-ai-into-a-world/figure-08-3d880aa5-5e31-45f5-99c4-8055dcb87f4a_640x360.gif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모델을 적극적으로 유도하는 또 다른 방법은 프롬프트를 더 구체적이고 과감하게 작성하는 것입니다. 그러면 모델이 그때그때 임의로 결정하는 대신, 뚜렷한 방향을 기준으로 판단할 수 있습니다. 독특한 아이디어를 찾는 가장 좋은 방법은 자신의 취향을 반영하는 것입니다. 먼저 비디오 게임, 인테리어 유행, 설치 미술처럼 영감을 얻을 대상을 떠올립니다. 그런 다음 그 대상이 AI 결과물에 어떤 영향을 주면 좋을지 설명합니다. 몇 가지 예를 보겠습니다.</a:t>
            </a:r>
          </a:p>
          <a:p/>
          <a:p>
            <a:r>
              <a:t>“제 생산성 앱의 랜딩 페이지를 만들어 주세요. 등각 투시로 보이는 생동감 있는 3D 도시를 배경으로 삼고, 동네나 건물이 각각 다른 기능을 나타내도록 만들어 주세요.”</a:t>
            </a:r>
          </a:p>
          <a:p/>
          <a:p>
            <a:r>
              <a:t>이미지 출처:</a:t>
            </a:r>
          </a:p>
          <a:p>
            <a:r>
              <a:t>assets/how-to-turn-your-ai-into-a-world/figure-09-a7245156-8c71-4ecc-9897-5ce76e561faf_640x360.gif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모델을 적극적으로 유도하는 또 다른 방법은 프롬프트를 더 구체적이고 과감하게 작성하는 것입니다. 그러면 모델이 그때그때 임의로 결정하는 대신, 뚜렷한 방향을 기준으로 판단할 수 있습니다. 독특한 아이디어를 찾는 가장 좋은 방법은 자신의 취향을 반영하는 것입니다. 먼저 비디오 게임, 인테리어 유행, 설치 미술처럼 영감을 얻을 대상을 떠올립니다. 그런 다음 그 대상이 AI 결과물에 어떤 영향을 주면 좋을지 설명합니다. 몇 가지 예를 보겠습니다.</a:t>
            </a:r>
          </a:p>
          <a:p/>
          <a:p>
            <a:r>
              <a:t>“제 생산성 앱의 랜딩 페이지를 만들어 주세요. 극단적으로 비대칭인 레이아웃, 서로 어울리지 않는 색과 타이포그래피, 불편하게 느껴지는 여백을 사용해 주세요. 모든 규칙을 깨면서도 보기 좋게 만들어 주세요.”</a:t>
            </a:r>
          </a:p>
          <a:p/>
          <a:p>
            <a:r>
              <a:t>이미지 출처:</a:t>
            </a:r>
          </a:p>
          <a:p>
            <a:r>
              <a:t>assets/how-to-turn-your-ai-into-a-world/figure-10-220747d1-f561-405f-a95c-7b05fd64731b_640x360.gif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물론 요청할 만한 독창적인 아이디어를 떠올리는 일이 어렵습니다. AI는 이 과정에서도 도움을 줄 수 있지만, 단순히 아이디어를 달라고 하면 다른 사람들도 받는 평범한 아이디어가 나옵니다. 저는 AI와 함께 독특한 프롬프트 아이디어를 찾을 때 다음 방법을 씁니다.</a:t>
            </a:r>
          </a:p>
          <a:p/>
          <a:p>
            <a:r>
              <a:t>1. 상상을 넓히기 위해 세부 설명을 뺀 여러 아이디어 요청</a:t>
            </a:r>
          </a:p>
          <a:p/>
          <a:p>
            <a:r>
              <a:t>제 제품에 과감하고 독특한 디자인 언어를 만들고 싶습니다. 아이디어를 최대한 많이 나열하고, 각각의 큰 방향만 짧게 설명해 주세요. 하나를 깊이 설명하기보다 여러 방향을 폭넓게 제안해 주세요.</a:t>
            </a:r>
          </a:p>
          <a:p/>
          <a:p>
            <a:r>
              <a:t>이미지 출처:</a:t>
            </a:r>
          </a:p>
          <a:p>
            <a:r>
              <a:t>assets/how-to-turn-your-ai-into-a-world/figure-11-0e1d6d22-1828-47d5-b2f6-0d88fef90ae2_1456x571.png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2. 마음에 드는 아이디어를 그려 보고 각 방향에 대한 반응을 기록한 뒤 AI에 보완 요청</a:t>
            </a:r>
          </a:p>
          <a:p/>
          <a:p>
            <a:r>
              <a:t>산업용 제어판:</a:t>
            </a:r>
          </a:p>
          <a:p/>
          <a:p>
            <a:r>
              <a:t>만지는 느낌이 떠오르는 디자인을 생각하고 있습니다. 딸깍 누르는 맛이 있는 버튼과 듣기 좋은 소리를 원합니다.</a:t>
            </a:r>
          </a:p>
          <a:p/>
          <a:p>
            <a:r>
              <a:t>처음에는 만화 같은 모습이나 실제 사물을 그대로 닮은 스큐어모픽 디자인을 떠올렸지만, 제 취향에는 촌스럽게 느껴집니다. 그런 방식은 피해 주세요.</a:t>
            </a:r>
          </a:p>
          <a:p/>
          <a:p>
            <a:r>
              <a:t>대신 구성 요소를 일관되게 만들고, 작은 부분에 특징을 넣어서 과하지 않게 제어판 느낌을 살려 주세요.</a:t>
            </a:r>
          </a:p>
          <a:p/>
          <a:p>
            <a:r>
              <a:t>회색 그라데이션은 지루해 보일 것 같습니다. 질감이 더 필요합니다. 제어판 느낌은 유지하면서 색을 조금 넣어 볼 수 있을까요?</a:t>
            </a:r>
          </a:p>
          <a:p/>
          <a:p>
            <a:r>
              <a:t>제 취향을 바탕으로 이 아이디어를 더 다듬어 주세요.</a:t>
            </a:r>
          </a:p>
          <a:p/>
          <a:p>
            <a:r>
              <a:t>이미지 출처:</a:t>
            </a:r>
          </a:p>
          <a:p>
            <a:r>
              <a:t>assets/how-to-turn-your-ai-into-a-world/figure-12-0e7340b1-9a93-4d94-abc6-c6b386f3a36c_1456x449.png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3. 만족할 때까지 수정한 뒤 제작용 프롬프트 요청</a:t>
            </a:r>
          </a:p>
          <a:p/>
          <a:p>
            <a:r>
              <a:t>AI 에이전트가 이 아이디어로 초기 개념 검증용(POC) 페이지를 만들 수 있도록 짧은 프롬프트를 작성해 주세요.</a:t>
            </a:r>
          </a:p>
          <a:p/>
          <a:p>
            <a:r>
              <a:t>AI가 만든 아이디어를 그대로 다시 AI에 입력하면 독특한 결과물을 얻기 어렵습니다. 다른 사람도 똑같이 할 수 있기 때문입니다. 하지만 직접 디자인 방향을 적극적으로 정하면 자신만이 만들 수 있는 결과물을 얻게 됩니다.</a:t>
            </a:r>
          </a:p>
          <a:p/>
          <a:p>
            <a:r>
              <a:t>이미지 출처:</a:t>
            </a:r>
          </a:p>
          <a:p>
            <a:r>
              <a:t>assets/how-to-turn-your-ai-into-a-world/figure-13-4ca0ce7c-c730-443a-bde3-f62996b43c7d_1456x692.png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디자인을 개선하려면 여러 차례 수정해야 합니다. 하지만 에이전트에게 디자인을 보고 개선하라고만 해서는 잘되지 않습니다. 에이전트가 자기 코드와 과거의 결정, 그때 내세운 이유를 검토하므로 객관적이지 않기 때문입니다. AI는 한 걸음 물러나 전체를 보고 다른 방식으로 생각하기가 쉽지 않습니다.</a:t>
            </a:r>
          </a:p>
          <a:p/>
          <a:p>
            <a:r>
              <a:t>이 문제를 해결하려면 코딩 에이전트가 디자인의 완성도를 직접 판단하게 하지 말고, 다른 에이전트인 ‘디자인 평가자’에게 물어보게 하세요. 평가자는 현재 디자인의 스크린샷을 보고 의견을 제시합니다. 디자인을 어떻게 구현했는지, 얼마나 많은 노력을 들였는지는 고려하지 않습니다. 실제로 품질 기준을 충족하는지만 판단합니다.</a:t>
            </a:r>
          </a:p>
          <a:p/>
          <a:p>
            <a:r>
              <a:t>이 디자인을 개선해 주세요. 어디에 집중할지 판단할 수 있도록 Fable 5 서브에이전트를 디자인 평가자로 사용해 주세요.</a:t>
            </a:r>
          </a:p>
          <a:p/>
          <a:p>
            <a:r>
              <a:t>수정할 때마다 다음 절차를 따라주세요.</a:t>
            </a:r>
          </a:p>
          <a:p/>
          <a:p>
            <a:r>
              <a:t>현재 디자인의 스크린샷을 찍어주세요.</a:t>
            </a:r>
          </a:p>
          <a:p/>
          <a:p>
            <a:r>
              <a:t>새 대화 맥락에서 평가자를 호출하고 스크린샷만 전달해 주세요. 코드나 구현 세부 정보, 이전 수정본이나 평가 내용은 전달하지 마세요.</a:t>
            </a:r>
          </a:p>
          <a:p/>
          <a:p>
            <a:r>
              <a:t>이 디자인이 추구하는 스타일을 평가하고, 최고 수준의 디자인 스튜디오라면 그 스타일을 어떻게 구현할지 상상한 뒤, 현재 디자인에서 가장 부족한 부분을 짚어달라고 해 주세요.</a:t>
            </a:r>
          </a:p>
          <a:p/>
          <a:p>
            <a:r>
              <a:t>마지막으로 현재 디자인이 그 스튜디오 수준의 품질에 얼마나 가까운지 10점 만점으로 평가하게 해 주세요.</a:t>
            </a:r>
          </a:p>
          <a:p/>
          <a:p>
            <a:r>
              <a:t>평가자에게 보내는 프롬프트에는 다음 지침을 넣어주세요.</a:t>
            </a:r>
          </a:p>
          <a:p/>
          <a:p>
            <a:r>
              <a:t>전체 구조와 구성을 넓은 관점에서 살피고, 작은 부분까지 확인해 주세요.</a:t>
            </a:r>
          </a:p>
          <a:p/>
          <a:p>
            <a:r>
              <a:t>너무 자주 쓰이거나 과한 표현, 그 밖에 AI가 만든 티가 뚜렷하게 나는 패턴을 찾아 감점해 주세요.</a:t>
            </a:r>
          </a:p>
          <a:p/>
          <a:p>
            <a:r>
              <a:t>모호하게 설명하지 말고, 짧고 구체적인 의견을 제시해 주세요.</a:t>
            </a:r>
          </a:p>
          <a:p/>
          <a:p>
            <a:r>
              <a:t>안전하거나 쉬운 선택에만 기대지 말고, 과감하고 분명하게 판단해 주세요.</a:t>
            </a:r>
          </a:p>
          <a:p/>
          <a:p>
            <a:r>
              <a:t>평가자가 독립적으로 10점 만점에 9점 이상이라고 판단해야 작업이 끝납니다. 평가자가 객관적으로 점수를 매길 수 있도록 이 종료 기준은 평가자에게 보내는 프롬프트에 넣지 마세요. 평가자에게는 매번 같은 프롬프트를 사용해 주세요.</a:t>
            </a:r>
          </a:p>
          <a:p/>
          <a:p>
            <a:r>
              <a:t>이미지 출처:</a:t>
            </a:r>
          </a:p>
          <a:p>
            <a:r>
              <a:t>assets/how-to-turn-your-ai-into-a-world/figure-15-5e045d71-d5f7-436a-be1f-eb870df24062_1456x1861.jpg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한국어 번역문: clone/how-to-turn-your-ai-into-a-world/index.html</a:t>
            </a:r>
          </a:p>
          <a:p/>
          <a:p>
            <a:r>
              <a:t>이 디자인을 개선해 주세요. 어디에 집중할지 판단할 수 있도록 Fable 5 서브에이전트를 디자인 평가자로 사용해 주세요.</a:t>
            </a:r>
          </a:p>
          <a:p/>
          <a:p>
            <a:r>
              <a:t>수정할 때마다 다음 절차를 따라주세요.</a:t>
            </a:r>
          </a:p>
          <a:p/>
          <a:p>
            <a:r>
              <a:t>현재 디자인의 스크린샷을 찍어주세요.</a:t>
            </a:r>
          </a:p>
          <a:p/>
          <a:p>
            <a:r>
              <a:t>새 대화 맥락에서 평가자를 호출하고 스크린샷만 전달해 주세요. 코드나 구현 세부 정보, 이전 수정본이나 평가 내용은 전달하지 마세요.</a:t>
            </a:r>
          </a:p>
          <a:p/>
          <a:p>
            <a:r>
              <a:t>이 디자인이 추구하는 스타일을 평가하고, 최고 수준의 디자인 스튜디오라면 그 스타일을 어떻게 구현할지 상상한 뒤, 현재 디자인에서 가장 부족한 부분을 짚어달라고 해 주세요.</a:t>
            </a:r>
          </a:p>
          <a:p/>
          <a:p>
            <a:r>
              <a:t>마지막으로 현재 디자인이 그 스튜디오 수준의 품질에 얼마나 가까운지 10점 만점으로 평가하게 해 주세요.</a:t>
            </a:r>
          </a:p>
          <a:p/>
          <a:p>
            <a:r>
              <a:t>평가자에게 보내는 프롬프트에는 다음 지침을 넣어주세요.</a:t>
            </a:r>
          </a:p>
          <a:p/>
          <a:p>
            <a:r>
              <a:t>전체 구조와 구성을 넓은 관점에서 살피고, 작은 부분까지 확인해 주세요.</a:t>
            </a:r>
          </a:p>
          <a:p/>
          <a:p>
            <a:r>
              <a:t>너무 자주 쓰이거나 과한 표현, 그 밖에 AI가 만든 티가 뚜렷하게 나는 패턴을 찾아 감점해 주세요.</a:t>
            </a:r>
          </a:p>
          <a:p/>
          <a:p>
            <a:r>
              <a:t>모호하게 설명하지 말고, 짧고 구체적인 의견을 제시해 주세요.</a:t>
            </a:r>
          </a:p>
          <a:p/>
          <a:p>
            <a:r>
              <a:t>안전하거나 쉬운 선택에만 기대지 말고, 과감하고 분명하게 판단해 주세요.</a:t>
            </a:r>
          </a:p>
          <a:p/>
          <a:p>
            <a:r>
              <a:t>평가자가 독립적으로 10점 만점에 9점 이상이라고 판단해야 작업이 끝납니다. 평가자가 객관적으로 점수를 매길 수 있도록 이 종료 기준은 평가자에게 보내는 프롬프트에 넣지 마세요. 평가자에게는 매번 같은 프롬프트를 사용해 주세요.</a:t>
            </a:r>
          </a:p>
          <a:p/>
          <a:p>
            <a:r>
              <a:t>이미지 출처:</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평가자에게 보내는 프롬프트에는 다음 지침을 넣어주세요.</a:t>
            </a:r>
          </a:p>
          <a:p/>
          <a:p>
            <a:r>
              <a:t>전체 구조와 구성을 넓은 관점에서 살피고, 작은 부분까지 확인해 주세요.</a:t>
            </a:r>
          </a:p>
          <a:p/>
          <a:p>
            <a:r>
              <a:t>너무 자주 쓰이거나 과한 표현, 그 밖에 AI가 만든 티가 뚜렷하게 나는 패턴을 찾아 감점해 주세요.</a:t>
            </a:r>
          </a:p>
          <a:p/>
          <a:p>
            <a:r>
              <a:t>모호하게 설명하지 말고, 짧고 구체적인 의견을 제시해 주세요.</a:t>
            </a:r>
          </a:p>
          <a:p/>
          <a:p>
            <a:r>
              <a:t>안전하거나 쉬운 선택에만 기대지 말고, 과감하고 분명하게 판단해 주세요.</a:t>
            </a:r>
          </a:p>
          <a:p/>
          <a:p>
            <a:r>
              <a:t>평가자가 독립적으로 10점 만점에 9점 이상이라고 판단해야 작업이 끝납니다. 평가자가 객관적으로 점수를 매길 수 있도록 이 종료 기준은 평가자에게 보내는 프롬프트에 넣지 마세요. 평가자에게는 매번 같은 프롬프트를 사용해 주세요.</a:t>
            </a:r>
          </a:p>
          <a:p/>
          <a:p>
            <a:r>
              <a:t>Claude Opus 5:</a:t>
            </a:r>
          </a:p>
          <a:p/>
          <a:p>
            <a:r>
              <a:t>똑같은 틀을 반복하던 디자인들이 이제 저마다 개성을 갖게 됐습니다. 그러면서도 처음에 의도한 전체적인 스타일은 유지합니다.</a:t>
            </a:r>
          </a:p>
          <a:p/>
          <a:p>
            <a:r>
              <a:t>반복을 끝낼 기준을 신중하게 정하세요. 그렇지 않으면 평가자는 디자인이 충분히 좋다고 끝내 인정하지 않을 수 있습니다. 그러면 에이전트는 평가자를 만족시키려고 토큰만 계속 소모하게 됩니다. 우선 한두 번만 수정하도록 요청하고, 목표에 가까워지는지 확인한 뒤 더 진행하세요.</a:t>
            </a:r>
          </a:p>
          <a:p/>
          <a:p>
            <a:r>
              <a:t>이미지 출처:</a:t>
            </a:r>
          </a:p>
          <a:p>
            <a:r>
              <a:t>assets/how-to-turn-your-ai-into-a-world/figure-15-5e045d71-d5f7-436a-be1f-eb870df24062_1456x1861.jpg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한국어 번역문: clone/how-to-turn-your-ai-into-a-world/index.html</a:t>
            </a:r>
          </a:p>
          <a:p/>
          <a:p>
            <a:r>
              <a:t>평가 기준을 최대한 명확하고 객관적으로 정하세요.</a:t>
            </a:r>
          </a:p>
          <a:p/>
          <a:p>
            <a:r>
              <a:t>나쁜 예: “디자인이 AI가 만든 것처럼 보이지 않고 아름다운지 판단해 주세요.” 너무 주관적이어서 실행할 때마다 결과가 크게 달라질 수 있습니다.</a:t>
            </a:r>
          </a:p>
          <a:p/>
          <a:p>
            <a:r>
              <a:t>괜찮은 예: “우리가 추구하는 스타일을 살펴보고, 최고 수준의 디자인 스튜디오라면 어떻게 구현할지 떠올린 다음, 그 기준으로 우리 디자인의 품질을 평가해 주세요.” 여전히 모호하지만, 일관된 평가 방식과 품질 기준을 제시합니다.</a:t>
            </a:r>
          </a:p>
          <a:p/>
          <a:p>
            <a:r>
              <a:t>좋은 예: “디자인 5개를 보여드리겠습니다. 4개는 전문가가 만든 사례이고, 1개는 우리 제품의 스크린샷입니다. 완성도와 디자인 감각을 기준으로 순위를 매겨주세요.” 이 지시는 구체적이고 객관적이며, 눈으로 비교할 수 있는 판단 기준을 제공합니다.</a:t>
            </a:r>
          </a:p>
          <a:p/>
          <a:p>
            <a:r>
              <a:t>목표로 삼는 품질 수준을 보여주는 예시 이미지를 제공하세요. 비교할 만한 스크린샷이나 마음에 드는 디자인을 사용할 수 있고, AI가 생성한 콘셉트 아트도 괜찮습니다. 평가자에게 이 이미지는 그대로 따라 만들 대상이 아니라 기준이나 무드보드로 참고하라고 지시하세요. 다른 디자인을 그대로 베끼는 결과는 피해야 합니다.</a:t>
            </a:r>
          </a:p>
          <a:p/>
          <a:p>
            <a:r>
              <a:t>반복을 끝낼 기준을 신중하게 정하세요. 그렇지 않으면 평가자는 디자인이 충분히 좋다고 끝내 인정하지 않을 수 있습니다. 그러면 에이전트는 평가자를 만족시키려고 토큰만 계속 소모하게 됩니다. 우선 한두 번만 수정하도록 요청하고, 목표에 가까워지는지 확인한 뒤 더 진행하세요.</a:t>
            </a:r>
          </a:p>
          <a:p/>
          <a:p>
            <a:r>
              <a:t>이미지 출처:</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코딩 에이전트는 코드 작성을 좋아하지만, 이미지를 넣는 경우는 드뭅니다. 그 대신 코드로 쉽게 만들 수 있는 그라데이션, 도형, 단순한 패턴을 쓰는 경향이 있습니다. 모두 AI가 만든 디자인이라는 사실을 드러내는 요소입니다.</a:t>
            </a:r>
          </a:p>
          <a:p/>
          <a:p>
            <a:r>
              <a:t>일부 에이전트에는 이미지 도구가 내장되어 있지만, 충분히 활용하지 않습니다. 기본 이미지 도구가 없는 에이전트도 API 키만 있으면 OpenAI나 Gemini API로 쉽게 이미지를 생성할 수 있습니다.</a:t>
            </a:r>
          </a:p>
          <a:p/>
          <a:p>
            <a:r>
              <a:t>직전 단계에서 만든 디자인에 적용해 보겠습니다.</a:t>
            </a:r>
          </a:p>
          <a:p/>
          <a:p>
            <a:r>
              <a:t>프롬프트:</a:t>
            </a:r>
          </a:p>
          <a:p/>
          <a:p>
            <a:r>
              <a:t>디자인이 꽤 밋밋합니다. 이미지 생성을 활용해 개성을 더해 주세요. 이미지와 셰이더 또는 3D 효과를 함께 사용해 시각적으로 더 흥미롭게 만드는 방법도 고려해 주세요.</a:t>
            </a:r>
          </a:p>
          <a:p/>
          <a:p>
            <a:r>
              <a:t>이미지 생성에는 이 OpenAI API 키를 사용해 주세요. 로컬에서만 사용하고 코드나 제품에는 저장하지 마세요: sk-a1b2c3d4…</a:t>
            </a:r>
          </a:p>
          <a:p/>
          <a:p>
            <a:r>
              <a:t>작업 결과가 제대로 보이는지 브라우저에서 프레임별로 확인해 주세요.</a:t>
            </a:r>
          </a:p>
          <a:p/>
          <a:p>
            <a:r>
              <a:t>Claude Opus 5의 적용 전후:</a:t>
            </a:r>
          </a:p>
          <a:p/>
          <a:p>
            <a:r>
              <a:t>이런 이미지와 효과를 사용하면 짧은 시간 안에 디자인에 개성을 많이 더할 수 있습니다. 겉모양만 손본 것이 아니라 공을 들였다는 느낌을 주므로 AI가 만들었다는 티도 줄어듭니다.</a:t>
            </a:r>
          </a:p>
          <a:p/>
          <a:p>
            <a:r>
              <a:t>이미지 출처:</a:t>
            </a:r>
          </a:p>
          <a:p>
            <a:r>
              <a:t>assets/how-to-turn-your-ai-into-a-world/figure-16-7e2a6925-7451-4abe-aaa8-bc92823dd69a_1456x399.gif</a:t>
            </a:r>
          </a:p>
          <a:p>
            <a:r>
              <a:t>assets/how-to-turn-your-ai-into-a-world/figure-17-f4ae7b09-1555-4ade-850c-212cb0d089b2_1456x399.gif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디자인이 꽤 밋밋합니다. 이미지 생성을 활용해 개성을 더해 주세요. 이미지와 셰이더 또는 3D 효과를 함께 사용해 시각적으로 더 흥미롭게 만드는 방법도 고려해 주세요.</a:t>
            </a:r>
          </a:p>
          <a:p/>
          <a:p>
            <a:r>
              <a:t>이미지 생성에는 이 OpenAI API 키를 사용해 주세요. 로컬에서만 사용하고 코드나 제품에는 저장하지 마세요: sk-a1b2c3d4…</a:t>
            </a:r>
          </a:p>
          <a:p/>
          <a:p>
            <a:r>
              <a:t>작업 결과가 제대로 보이는지 브라우저에서 프레임별로 확인해 주세요.</a:t>
            </a:r>
          </a:p>
          <a:p/>
          <a:p>
            <a:r>
              <a:t>Claude Opus 5의 적용 전후:</a:t>
            </a:r>
          </a:p>
          <a:p/>
          <a:p>
            <a:r>
              <a:t>이런 이미지와 효과를 사용하면 짧은 시간 안에 디자인에 개성을 많이 더할 수 있습니다. 겉모양만 손본 것이 아니라 공을 들였다는 느낌을 주므로 AI가 만들었다는 티도 줄어듭니다.</a:t>
            </a:r>
          </a:p>
          <a:p/>
          <a:p>
            <a:r>
              <a:t>사용 환경에 따라 에이전트와 이미지 생성 도구를 연결하는 방법이 다릅니다.</a:t>
            </a:r>
          </a:p>
          <a:p/>
          <a:p>
            <a:r>
              <a:t>Codex, Antigravity 또는 Grok Build를 사용하는 경우:</a:t>
            </a:r>
          </a:p>
          <a:p/>
          <a:p>
            <a:r>
              <a:t>에이전트에게 내장된 이미지 생성 기능을 사용하라고 말하세요. 에이전트는 이미 사용법을 알고 있지만, 지시하지 않으면 좀처럼 사용하지 않습니다.</a:t>
            </a:r>
          </a:p>
          <a:p/>
          <a:p>
            <a:r>
              <a:t>Claude Code나 다른 에이전트를 쓰면서 ChatGPT도 구독하는 경우:</a:t>
            </a:r>
          </a:p>
          <a:p/>
          <a:p>
            <a:r>
              <a:t>에이전트에게 이렇게 말하세요. “Codex CLI로 이미지를 생성해 주세요. 설치되어 있지 않으면 설치를 도와주세요. API 키로 요금이 청구되지 않고 제 구독을 사용하도록 해 주세요.” 이렇게 하면 추가 비용 없이 ChatGPT 구독으로 이미지를 생성할 수 있습니다.</a:t>
            </a:r>
          </a:p>
          <a:p/>
          <a:p>
            <a:r>
              <a:t>Claude만 사용하거나 그 밖의 도구를 사용하는 경우:</a:t>
            </a:r>
          </a:p>
          <a:p/>
          <a:p>
            <a:r>
              <a:t>가장 간단한 방법은 에이전트에게 OpenAI나 Gemini API 키를 주고 이미지를 생성하게 하는 것입니다. 에이전트 전용 API 키를 따로 만들고 지출 한도를 낮게 설정하는 것을 권합니다. 그러면 키가 유출되거나 에이전트가 잘못 사용해도 비용을 제한할 수 있고, 다른 작업에 지장을 주지 않고 키를 쉽게 폐기할 수 있습니다.</a:t>
            </a:r>
          </a:p>
          <a:p/>
          <a:p>
            <a:r>
              <a:t>채팅에 키를 자주 붙여 넣게 된다면, 키를 파일에 저장하고 프로젝트 안에서 그 파일을 참조하도록 에이전트에게 알려주세요. 다음과 같이 말하면 됩니다. “Git에서 제외되는 .env.agents 파일을 만들고 이 API 키를 저장해 주세요. 이 키는 개발 중에 사용할 수 있지만 제품에 포함해서는 안 된다는 내용을 AGENTS.md/CLAUDE.md에 기록해 주세요.”</a:t>
            </a:r>
          </a:p>
          <a:p/>
          <a:p>
            <a:r>
              <a:t>이미지 출처:</a:t>
            </a:r>
          </a:p>
          <a:p>
            <a:r>
              <a:t>assets/how-to-turn-your-ai-into-a-world/figure-18-7cd81d80-09c1-4244-9651-43bba85771a4_1456x399.gif</a:t>
            </a:r>
          </a:p>
          <a:p>
            <a:r>
              <a:t>assets/how-to-turn-your-ai-into-a-world/figure-19-c02123f6-00f8-4063-8463-5050d2649647_1456x399.gif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눈길을 끄는 애니메이션 그래픽 제작</a:t>
            </a:r>
          </a:p>
          <a:p/>
          <a:p>
            <a:r>
              <a:t>핵심은 단색 배경 위에서 반복 재생되는 영상을 만든 다음, 그린 스크린처럼 크로마키 방식으로 배경을 지우는 것입니다. 더 복잡한 경우에는 영상 매팅 모델로 배경을 제거합니다. 그러면 동영상처럼 보이지 않으면서도 화면 어디에든 겹쳐 놓을 수 있는 애니메이션을 얻을 수 있습니다.</a:t>
            </a:r>
          </a:p>
          <a:p/>
          <a:p>
            <a:r>
              <a:t>예를 들어 앞서 만든 디자인 하나에 다음 프롬프트를 적용했습니다.</a:t>
            </a:r>
          </a:p>
          <a:p/>
          <a:p>
            <a:r>
              <a:t>프롬프트:</a:t>
            </a:r>
          </a:p>
          <a:p/>
          <a:p>
            <a:r>
              <a:t>이 페이지의 이미지를 더 흥미로운 움직임이 있는 반복 재생 영상으로 바꿔주세요. 크리스털이 여러 조각으로 갈라져 천천히 회전하게 해 주세요. 페이지 배경을 굴절시키고 주변에 그림자와 빛을 드리우는 멋진 유리 효과를 넣어주세요.</a:t>
            </a:r>
          </a:p>
          <a:p/>
          <a:p>
            <a:r>
              <a:t>유리의 굴절 효과가 자연스럽게 보이도록 먼저 페이지 배경색 위에서 유리 영상을 렌더링해 주세요. 이렇게 굴절 효과를 영상에 담은 다음, 영상 매팅 모델로 배경을 제거해 주세요.</a:t>
            </a:r>
          </a:p>
          <a:p/>
          <a:p>
            <a:r>
              <a:t>이 fal.ai API 키를 사용해 주세요: sk-a1b2c3d4…</a:t>
            </a:r>
          </a:p>
          <a:p/>
          <a:p>
            <a:r>
              <a:t>영상 생성과 배경 제거에 적합한 최신 모델을 찾아주세요.</a:t>
            </a:r>
          </a:p>
          <a:p/>
          <a:p>
            <a:r>
              <a:t>GPT-5.6 Sol의 적용 전후:</a:t>
            </a:r>
          </a:p>
          <a:p/>
          <a:p>
            <a:r>
              <a:t>빛이 모여 생기는 흥미로운 반사 무늬, 유리의 굴절 효과, 복잡한 물리적 움직임까지 표현할 수 있습니다. 코드로 만드는 것보다 훨씬 풍부한 효과입니다.</a:t>
            </a:r>
          </a:p>
          <a:p/>
          <a:p>
            <a:r>
              <a:t>이미지 출처:</a:t>
            </a:r>
          </a:p>
          <a:p>
            <a:r>
              <a:t>assets/how-to-turn-your-ai-into-a-world/figure-20-aa994e2f-caec-40bf-8cc5-8a1ef101dd21_1456x399.gif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영상 모델의 이런 쓰임새는 그 가치에 비해 덜 주목받고 있습니다. 많은 영상 모델은 텍스트로 영상을 만드는 것뿐 아니라 키프레임 이미지 사이의 중간 장면도 만들 수 있습니다. 제품의 정지 이미지 두 장을 가져와 둘 사이를 연결하는 전환 영상을 만들 수 있다는 뜻입니다. 사용자가 앱의 다른 화면으로 이동하는 등의 동작을 할 때 이 영상을 재생할 수 있습니다. 스크롤하거나 스와이프하는 몸짓에 맞춰 영상을 프레임 단위로 앞뒤로 움직일 수도 있습니다.</a:t>
            </a:r>
          </a:p>
          <a:p/>
          <a:p>
            <a:r>
              <a:t>스크롤 효과를 보여주는 데모 페이지입니다. Codex에서 GPT-5.6 Sol을 사용해 프롬프트 하나로 만들었습니다.</a:t>
            </a:r>
          </a:p>
          <a:p/>
          <a:p>
            <a:r>
              <a:t>프롬프트:</a:t>
            </a:r>
          </a:p>
          <a:p/>
          <a:p>
            <a:r>
              <a:t>영상 모델을 사용해 몇 개의 화면 사이를 사용자 조작에 따라 전환하는 여행 가방 데모 페이지를 만들어주세요. 각 화면에는 서로 다른 상태의 여행 가방이 보여야 합니다. 스크롤에 어울리는 수직 움직임을 넣어주세요.</a:t>
            </a:r>
          </a:p>
          <a:p/>
          <a:p>
            <a:r>
              <a:t>처음에는 여행 가방이 공중 높이 떠 있게 해 주세요.</a:t>
            </a:r>
          </a:p>
          <a:p/>
          <a:p>
            <a:r>
              <a:t>그다음에는 바닥에 내려앉아 뚜껑이 열리게 해 주세요.</a:t>
            </a:r>
          </a:p>
          <a:p/>
          <a:p>
            <a:r>
              <a:t>마지막으로 짐이 위에서 내려와 가방 안에 가지런히 담기게 해 주세요.</a:t>
            </a:r>
          </a:p>
          <a:p/>
          <a:p>
            <a:r>
              <a:t>이미지 생성 스킬로 첫 프레임을 만들어주세요. 그런 다음 그 프레임에서 시작해 다음 상태로 움직이는 영상을 생성해 주세요. 영상의 마지막 프레임을 다음 전환의 시작점으로 사용해 끊김 없이 이어지게 해 주세요. 사용자가 스크롤하면 각 전환 장면이 차례로 프레임 단위로 진행되게 해 주세요.</a:t>
            </a:r>
          </a:p>
          <a:p/>
          <a:p>
            <a:r>
              <a:t>이 fal.ai API 키를 사용해 주세요: sk-a1b2c3d4…</a:t>
            </a:r>
          </a:p>
          <a:p/>
          <a:p>
            <a:r>
              <a:t>Seedance 2.5처럼 물리적 움직임을 잘 표현하고 장면의 일관성을 잘 유지하는 영상 모델을 사용해 주세요.</a:t>
            </a:r>
          </a:p>
          <a:p/>
          <a:p>
            <a:r>
              <a:t>GPT-5.6 Sol:</a:t>
            </a:r>
          </a:p>
          <a:p/>
          <a:p>
            <a:r>
              <a:t>사용자가 스크롤하는 대로 페이지 전환 장면이 부드럽게 움직여서 직접 조작하는 재미가 있습니다. 이런 디자인은 사용자가 계속 스크롤하며 제품에 관해 더 읽고 싶게 만듭니다. 프롬프트도 하나면 충분했습니다!</a:t>
            </a:r>
          </a:p>
          <a:p/>
          <a:p>
            <a:r>
              <a:t>이미지 출처:</a:t>
            </a:r>
          </a:p>
          <a:p>
            <a:r>
              <a:t>assets/how-to-turn-your-ai-into-a-world/figure-21-2f3bb583-375b-4a12-aa57-64a10bf2d9e7_960x540.gif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AI는 무언가를 더하는 일은 좋아하지만, 덜어내는 일은 좀처럼 하지 않습니다. 모든 것을 지나치게 설명하거나 실제로 쓸모없는 요소를 넣는 것은 AI가 만든 디자인에서 흔히 보이는 특징입니다. 반대로 절제한 디자인은 곧바로 더 고급스럽고 감각적으로 보입니다.</a:t>
            </a:r>
          </a:p>
          <a:p/>
          <a:p>
            <a:r>
              <a:t>AI가 만든 디자인을 다듬을 때 저는 대부분의 시간을 무언가를 지우는 데 씁니다. 예를 들어 칼로리 기록 앱을 만들 때 Claude가 처음 제안한 디자인은 이랬습니다.</a:t>
            </a:r>
          </a:p>
          <a:p/>
          <a:p>
            <a:r>
              <a:t>저는 앱의 기능을 설명하면서 분명히 ‘깔끔하고 간결한 디자인’을 요청했습니다. 결과는 나쁘지 않았고, 전부 AI가 만들었다는 점을 생각하면 인상적이었습니다. 하지만 간결하게 해달라는 요청에도 불구하고 별로 쓸모없는 요소가 많았습니다.</a:t>
            </a:r>
          </a:p>
          <a:p/>
          <a:p>
            <a:r>
              <a:t>배경과 진행 표시줄에 들어간 분홍색 발광 효과</a:t>
            </a:r>
          </a:p>
          <a:p/>
          <a:p>
            <a:r>
              <a:t>별다른 이유 없이 글자에 넣은 색상과 강조 표시</a:t>
            </a:r>
          </a:p>
          <a:p/>
          <a:p>
            <a:r>
              <a:t>사진만으로도 충분히 알 수 있는데 하루 동안 먹은 음식을 보여줄 때 덧붙인 설명과 빈 공간</a:t>
            </a:r>
          </a:p>
          <a:p/>
          <a:p>
            <a:r>
              <a:t>iOS 기본 구성 요소보다 보기 좋지 않은 별도 제작 버튼과 입력창</a:t>
            </a:r>
          </a:p>
          <a:p/>
          <a:p>
            <a:r>
              <a:t>저는 Claude에게 과한 부분을 줄여달라고 요청했습니다.</a:t>
            </a:r>
          </a:p>
          <a:p/>
          <a:p>
            <a:r>
              <a:t>사진 중심의 격자 배열로 화면을 단순하게 정리해 주세요.</a:t>
            </a:r>
          </a:p>
          <a:p/>
          <a:p>
            <a:r>
              <a:t>그라데이션, 발광 효과, 불필요한 상자를 없애주세요.</a:t>
            </a:r>
          </a:p>
          <a:p/>
          <a:p>
            <a:r>
              <a:t>Apple의 기본 앱처럼 느껴지는, 정말 간결한 디자인을 만들어주세요.</a:t>
            </a:r>
          </a:p>
          <a:p/>
          <a:p>
            <a:r>
              <a:t>결과는 이랬습니다.</a:t>
            </a:r>
          </a:p>
          <a:p/>
          <a:p>
            <a:r>
              <a:t>디자인 경험을 쌓아온 제 눈에는 결과가 훨씬 좋아졌습니다. 디자인의 의도가 분명하고 이미지 자체가 내용을 전달합니다. iOS 기본 구성 요소를 사용했고, 과한 색상과 그라데이션을 없앴습니다. 글자는 더 작고 단순해졌으며 군더더기도 줄었습니다. 이런 것이 좋은 디자인입니다.</a:t>
            </a:r>
          </a:p>
          <a:p/>
          <a:p>
            <a:r>
              <a:t>지금의 AI 모델은 스스로 이런 선택을 떠올리지 못합니다. AI는 위험을 감수하려 하지 않고, 디자인을 줄이거나 코드를 지우는 일은 위험한 선택으로 여깁니다. 그래서 여러분이 방향을 잡아줘야 합니다. 디자인을 보면서 정말 필요한 것이 무엇인지 생각해보세요. 화면에 담는 것을 줄이면 오히려 더 많은 내용을 전달할 때가 많습니다. 복잡한 요소로 사용자를 지치게 하지 않으면서 관심을 붙잡을 수 있기 때문입니다.</a:t>
            </a:r>
          </a:p>
          <a:p/>
          <a:p>
            <a:r>
              <a:t>이미지 출처:</a:t>
            </a:r>
          </a:p>
          <a:p>
            <a:r>
              <a:t>assets/how-to-turn-your-ai-into-a-world/figure-22-dc9186ef-2b04-42a0-a460-8898b0590797_1456x964.jpg</a:t>
            </a:r>
          </a:p>
          <a:p>
            <a:r>
              <a:t>assets/how-to-turn-your-ai-into-a-world/figure-23-fdf80ee5-9f43-44e9-93cf-c477a9e49128_1456x964.jpg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 모델마다 유난히 자주 쓰는 표현 방식이 있습니다. 그 자체로 나쁜 것은 아닙니다. 하지만 사용자가 어느 디자인에서나 같은 방식을 보게 되면, 그것이 AI가 만든 뻔한 디자인의 표시가 됩니다.</a:t>
            </a:r>
          </a:p>
          <a:p/>
          <a:p>
            <a:r>
              <a:t>이런 방식을 알아보고 다른 선택지를 익히면 디자인을 더 정돈되고 고급스럽게 만드는 데 도움이 됩니다. 모든 경우에 무조건 피할 필요는 없지만, 쓸 때는 이유가 분명해야 합니다.</a:t>
            </a:r>
          </a:p>
          <a:p/>
          <a:p>
            <a:r>
              <a:t>다음은 AI 디자인에서 흔히 보이는 특징입니다.</a:t>
            </a:r>
          </a:p>
          <a:p/>
          <a:p>
            <a:r>
              <a:t>처음부터 프롬프트로 이런 방식을 금지할 수도 있지만, 저는 권하지 않습니다. 그라데이션, 카드, 이름표가 모두 나쁜 것은 아닙니다. 쓰지 못하게 강제하면 AI가 지나치게 고민하다가 더 이상한 방식을 선택할 수 있습니다. 대신 디자인을 다듬을 때 이 목록을 펼쳐놓고 해당하는 요소가 있는지 살펴보세요. 그런 다음 AI에게 다른 방식을 시도하게 하고, 결과가 더 마음에 드는지 비교해보세요.</a:t>
            </a:r>
          </a:p>
          <a:p/>
          <a:p>
            <a:r>
              <a:t>이미지 출처:</a:t>
            </a:r>
          </a:p>
          <a:p>
            <a:r>
              <a:t>assets/how-to-turn-your-ai-into-a-world/figure-24-65ceb75e-aeb7-411d-99fa-eacaad0dbdae_1456x2424.jpg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 모델마다 유난히 자주 쓰는 표현 방식이 있습니다. 그 자체로 나쁜 것은 아닙니다. 하지만 사용자가 어느 디자인에서나 같은 방식을 보게 되면, 그것이 AI가 만든 뻔한 디자인의 표시가 됩니다.</a:t>
            </a:r>
          </a:p>
          <a:p/>
          <a:p>
            <a:r>
              <a:t>이런 방식을 알아보고 다른 선택지를 익히면 디자인을 더 정돈되고 고급스럽게 만드는 데 도움이 됩니다. 모든 경우에 무조건 피할 필요는 없지만, 쓸 때는 이유가 분명해야 합니다.</a:t>
            </a:r>
          </a:p>
          <a:p/>
          <a:p>
            <a:r>
              <a:t>다음은 AI 디자인에서 흔히 보이는 특징입니다.</a:t>
            </a:r>
          </a:p>
          <a:p/>
          <a:p>
            <a:r>
              <a:t>처음부터 프롬프트로 이런 방식을 금지할 수도 있지만, 저는 권하지 않습니다. 그라데이션, 카드, 이름표가 모두 나쁜 것은 아닙니다. 쓰지 못하게 강제하면 AI가 지나치게 고민하다가 더 이상한 방식을 선택할 수 있습니다. 대신 디자인을 다듬을 때 이 목록을 펼쳐놓고 해당하는 요소가 있는지 살펴보세요. 그런 다음 AI에게 다른 방식을 시도하게 하고, 결과가 더 마음에 드는지 비교해보세요.</a:t>
            </a:r>
          </a:p>
          <a:p/>
          <a:p>
            <a:r>
              <a:t>이미지 출처:</a:t>
            </a:r>
          </a:p>
          <a:p>
            <a:r>
              <a:t>assets/how-to-turn-your-ai-into-a-world/figure-24-65ceb75e-aeb7-411d-99fa-eacaad0dbdae_1456x2424.jpg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 모델마다 유난히 자주 쓰는 표현 방식이 있습니다. 그 자체로 나쁜 것은 아닙니다. 하지만 사용자가 어느 디자인에서나 같은 방식을 보게 되면, 그것이 AI가 만든 뻔한 디자인의 표시가 됩니다.</a:t>
            </a:r>
          </a:p>
          <a:p/>
          <a:p>
            <a:r>
              <a:t>이런 방식을 알아보고 다른 선택지를 익히면 디자인을 더 정돈되고 고급스럽게 만드는 데 도움이 됩니다. 모든 경우에 무조건 피할 필요는 없지만, 쓸 때는 이유가 분명해야 합니다.</a:t>
            </a:r>
          </a:p>
          <a:p/>
          <a:p>
            <a:r>
              <a:t>다음은 AI 디자인에서 흔히 보이는 특징입니다.</a:t>
            </a:r>
          </a:p>
          <a:p/>
          <a:p>
            <a:r>
              <a:t>처음부터 프롬프트로 이런 방식을 금지할 수도 있지만, 저는 권하지 않습니다. 그라데이션, 카드, 이름표가 모두 나쁜 것은 아닙니다. 쓰지 못하게 강제하면 AI가 지나치게 고민하다가 더 이상한 방식을 선택할 수 있습니다. 대신 디자인을 다듬을 때 이 목록을 펼쳐놓고 해당하는 요소가 있는지 살펴보세요. 그런 다음 AI에게 다른 방식을 시도하게 하고, 결과가 더 마음에 드는지 비교해보세요.</a:t>
            </a:r>
          </a:p>
          <a:p/>
          <a:p>
            <a:r>
              <a:t>이미지 출처:</a:t>
            </a:r>
          </a:p>
          <a:p>
            <a:r>
              <a:t>assets/how-to-turn-your-ai-into-a-world/figure-24-65ceb75e-aeb7-411d-99fa-eacaad0dbdae_1456x2424.jpg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AI 모델마다 유난히 자주 쓰는 표현 방식이 있습니다. 그 자체로 나쁜 것은 아닙니다. 하지만 사용자가 어느 디자인에서나 같은 방식을 보게 되면, 그것이 AI가 만든 뻔한 디자인의 표시가 됩니다.</a:t>
            </a:r>
          </a:p>
          <a:p/>
          <a:p>
            <a:r>
              <a:t>이런 방식을 알아보고 다른 선택지를 익히면 디자인을 더 정돈되고 고급스럽게 만드는 데 도움이 됩니다. 모든 경우에 무조건 피할 필요는 없지만, 쓸 때는 이유가 분명해야 합니다.</a:t>
            </a:r>
          </a:p>
          <a:p/>
          <a:p>
            <a:r>
              <a:t>다음은 AI 디자인에서 흔히 보이는 특징입니다.</a:t>
            </a:r>
          </a:p>
          <a:p/>
          <a:p>
            <a:r>
              <a:t>처음부터 프롬프트로 이런 방식을 금지할 수도 있지만, 저는 권하지 않습니다. 그라데이션, 카드, 이름표가 모두 나쁜 것은 아닙니다. 쓰지 못하게 강제하면 AI가 지나치게 고민하다가 더 이상한 방식을 선택할 수 있습니다. 대신 디자인을 다듬을 때 이 목록을 펼쳐놓고 해당하는 요소가 있는지 살펴보세요. 그런 다음 AI에게 다른 방식을 시도하게 하고, 결과가 더 마음에 드는지 비교해보세요.</a:t>
            </a:r>
          </a:p>
          <a:p/>
          <a:p>
            <a:r>
              <a:t>이미지 출처:</a:t>
            </a:r>
          </a:p>
          <a:p>
            <a:r>
              <a:t>assets/how-to-turn-your-ai-into-a-world/figure-24-65ceb75e-aeb7-411d-99fa-eacaad0dbdae_1456x2424.jpg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clone/how-to-turn-your-ai-into-a-world/index.html</a:t>
            </a:r>
          </a:p>
          <a:p/>
          <a:p>
            <a:r>
              <a:t>NOTE2 파트 · 한국어 번역문: clone/how-to-turn-your-ai-into-a-world/index.html</a:t>
            </a:r>
          </a:p>
          <a:p/>
          <a:p>
            <a:r>
              <a:t>모델이 디자인에 넣는 문구는 시각 효과와는 별개지만, 사용자가 그 디자인을 감각적이라고 느낄지 엉성하다고 느낄지에 가장 큰 영향을 줄 수도 있습니다. 우리는 매일 AI가 쓴 글을 쉴 새 없이 접합니다. 이런 글은 읽기가 피곤하고 자연스럽지도 않습니다.</a:t>
            </a:r>
          </a:p>
          <a:p/>
          <a:p>
            <a:r>
              <a:t>디자이너가 ‘Lorem ipsum’이라는 임시 문구를 쓰듯이 AI가 만든 문구도 생각해보세요. 화면 구성을 확인하는 데 쓰는 임시 글이므로 나중에 다시 써야 합니다. 사람이 모든 문장을 읽고, 일관된 말투로 고쳐야 합니다.</a:t>
            </a:r>
          </a:p>
          <a:p/>
          <a:p>
            <a:r>
              <a:t>이 과정을 거치면 다음과 같은 차이가 생깁니다.</a:t>
            </a:r>
          </a:p>
          <a:p/>
          <a:p>
            <a:r>
              <a:t>사람이 고친 글은 거의 언제나 더 짧고 단순하며, 읽는 사람을 덜 질리게 합니다. 사용자는 AI가 길게 써놓은 글을 보면 곧바로 훑어 넘기고 싶어집니다. 뜻이 분명하고 꼭 필요한 문구를 쓰는 데 시간을 들이면, 사용자는 여러분이 전하려는 말을 실제로 읽게 됩니다.</a:t>
            </a:r>
          </a:p>
          <a:p/>
          <a:p>
            <a:r>
              <a:t>이미지 출처:</a:t>
            </a:r>
          </a:p>
          <a:p>
            <a:r>
              <a:t>assets/how-to-turn-your-ai-into-a-world/figure-25-3174cc8a-c197-4be5-991d-0834d05cfc42_1456x1949.png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§1 전체 흐름</a:t>
            </a:r>
          </a:p>
          <a:p/>
          <a:p>
            <a:r>
              <a:t>출처: HOW_DESIGN_FROM_CC.md §1. The AI Automators의 원문은 세 랜딩 페이지를 각각 프롬프트 하나로 만든 뒤 한두 번 수정했다고 설명한다. frontend-design 스킬과 gauntlet loop를 함께 사용했다는 원문의 설명을 요약한다. 진행 순서는 준비 → 참고 자료 수집 → 선호와 목표를 프롬프트로 전달 → 구현과 스크린샷 검토 → 수정 → 디자인 시스템 기록이다. 보이는 세 결과 이미지는 기존 영상에서 추출한 실제 Figure다. 원문: https://www.theaiautomators.com/claude-design-inspiration-all-the-links-from-the-video/</a:t>
            </a:r>
          </a:p>
          <a:p/>
          <a:p>
            <a:r>
              <a:t>이미지 출처:</a:t>
            </a:r>
          </a:p>
          <a:p>
            <a:r>
              <a:t>assets/guide1-mov/crops/49-in-action-sites.png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§2 참고 자료 찾기</a:t>
            </a:r>
          </a:p>
          <a:p/>
          <a:p>
            <a:r>
              <a:t>출처: HOW_DESIGN_FROM_CC.md §2. 슬라이드에서는 갤러리와 실제 제품 화면을 Reference로 묶어 다섯 범주로 간추렸다. Reference는 Awwwards·Siteinspire·Lapa Ninja에서 전체 구성과 분위기, Mobbin·Refero에서 실제 화면과 플로우를 찾는다. Component는 21st.dev·React Bits, Font는 Fonts In Use·Google Fonts, Color는 Coolors, System은 Branding Style Guides·Refero Styles를 참고한다. 이미지들은 보관된 사이트 캡처이며 영상 당시 모습과 같다고 주장하지 않는다. URL: https://www.awwwards.com/ ; https://mobbin.com/ ; https://21st.dev/ ; https://reactbits.dev/ ; https://fontsinuse.com/ ; https://fonts.google.com/ ; https://coolors.co/palettes/trending ; https://brandingstyleguides.com/ ; https://styles.refero.design/ . 사이트 가격·무료 한도·라이선스는 원문 노트에 남기고 발표 화면에서 생략한다.</a:t>
            </a:r>
          </a:p>
          <a:p/>
          <a:p>
            <a:r>
              <a:t>이미지 출처:</a:t>
            </a:r>
          </a:p>
          <a:p>
            <a:r>
              <a:t>slides/img/sites/awwwards.png</a:t>
            </a:r>
          </a:p>
          <a:p>
            <a:r>
              <a:t>slides/img/sites/21stdev.png</a:t>
            </a:r>
          </a:p>
          <a:p>
            <a:r>
              <a:t>slides/img/sites/fontsinuse.png</a:t>
            </a:r>
          </a:p>
          <a:p>
            <a:r>
              <a:t>slides/img/sites/coolors.png</a:t>
            </a:r>
          </a:p>
          <a:p>
            <a:r>
              <a:t>slides/img/sites/brandingstyleguides.png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§3 참고 자료 전달</a:t>
            </a:r>
          </a:p>
          <a:p/>
          <a:p>
            <a:r>
              <a:t>출처: HOW_DESIGN_FROM_CC.md §3. GoFullPage는 전체 페이지, macOS Command+Shift+4와 Windows Snipping Tool은 부분 캡처에 쓴다. 서브에이전트가 같은 자료를 열 수 있도록 ref/site1.png 같은 프로젝트 경로에 이미지를 저장한다. 메인 대화에 붙여 넣은 이미지는 서브에이전트에게 자동으로 전달되지 않는다는 문서의 설명을 반영했다. Blackwater 프롬프트는 Nimmo Bay의 사진 히어로와 낮은 제목 배치를 좋아하되, 색과 글꼴은 가져오지 않겠다고 명시했다. 원하는 것과 원하지 않는 것을 나눠 적고 복사하지 말라는 조건을 덧붙인다. URL: https://gofullpage.com/ ; https://www.nimmobay.com/ . GoFullPage 이미지는 소개 페이지 상단을 자른 실제 캡처다.</a:t>
            </a:r>
          </a:p>
          <a:p/>
          <a:p>
            <a:r>
              <a:t>이미지 출처:</a:t>
            </a:r>
          </a:p>
          <a:p>
            <a:r>
              <a:t>slides/img/sites/gofullpage.png</a:t>
            </a:r>
          </a:p>
          <a:p>
            <a:r>
              <a:t>slides/img/sites/nimmobay.png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§5.1 Southside Brewing</a:t>
            </a:r>
          </a:p>
          <a:p/>
          <a:p>
            <a:r>
              <a:t>출처: HOW_DESIGN_FROM_CC.md §5.1. 참고 사이트는 Lusion이 만든 Oryzo다. 프롬프트는 스크롤에 따라 3D 물체가 움직이는 방식을 관찰하되, 물체·색·레이아웃은 Southside Brewing에 맞추라고 요청했다. 목표는 가까운 펍이나 판매처 찾기다. Three.js의 기본 도형으로 캔을 만들고, 라벨을 캔버스에 그려 적용한다. 캔의 회전·마우스 기울기와 첫 화면→맛 소개→판매처의 세 장면을 명시했다. 짙은 청록 배경, 탁한 호박색 캔, 오프화이트 글자, CTA에만 라임색을 쓴다. 움직임 줄이기와 WebGL 대체 화면도 지시한다. 오른쪽은 영상에서 추출한 실제 결과 Figure다. URL: https://oryzo.ai/ ; https://lusion.co/</a:t>
            </a:r>
          </a:p>
          <a:p/>
          <a:p>
            <a:r>
              <a:t>이미지 출처:</a:t>
            </a:r>
          </a:p>
          <a:p>
            <a:r>
              <a:t>slides/img/sites/oryzo-2.png</a:t>
            </a:r>
          </a:p>
          <a:p>
            <a:r>
              <a:t>assets/guide1-mov/crops/51-southside-brewing.png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§5.2 Harbour Lane Coffee</a:t>
            </a:r>
          </a:p>
          <a:p/>
          <a:p>
            <a:r>
              <a:t>출처: HOW_DESIGN_FROM_CC.md §5.2. 세 참고 사이트의 스크린샷을 주고, 만들기 전에 취향부터 분석하라고 했다. Café Technica에서는 가로로 확장되는 영상 히어로, La Colombe에서는 색·큰 사진·카드, Anna Jóna에서는 큰 글자·이미지·스토리텔링을 참고했다. Anna Jóna의 애니메이션은 원하지 않는다고 명시했다. 슬라이드는 Café Technica와 La Colombe를 보여 주며 Anna Jóna의 현재 캡처는 폐업 안내가 있어 생략했다. 결과는 골웨이의 작은 커피 로스터를 위한 랜딩 페이지로, 동네 사람이 가게에 와서 원두를 사게 하는 것이 목표다. 시작 전에 필요한 질문을 하게 했고, 실제 사진을 넣을 자리와 생성할 영상을 구분해야 한다. 오른쪽 결과 Figure는 영상에서 추출한 510×452 이미지라 원본 크기에 가깝게 배치했다. URL: https://www.cafetechnica.com.au/ ; https://www.lacolombe.com/ ; https://www.annajona.is/</a:t>
            </a:r>
          </a:p>
          <a:p/>
          <a:p>
            <a:r>
              <a:t>이미지 출처:</a:t>
            </a:r>
          </a:p>
          <a:p>
            <a:r>
              <a:t>slides/img/sites/cafetechnica-2.png</a:t>
            </a:r>
          </a:p>
          <a:p>
            <a:r>
              <a:t>slides/img/sites/lacolombe-2.png</a:t>
            </a:r>
          </a:p>
          <a:p>
            <a:r>
              <a:t>assets/guide1-mov/crops/50-harbour-lane.png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§5.3 Blackwater Cabins</a:t>
            </a:r>
          </a:p>
          <a:p/>
          <a:p>
            <a:r>
              <a:t>출처: HOW_DESIGN_FROM_CC.md §5.3. Nimmo Bay는 사진 히어로, Vipp Guesthouses는 어둡고 대비가 강한 분위기와 얇은 고정 메뉴, Aman Amangiri는 큰 사진·작은 라벨·세리프 제목·넉넉한 여백의 카드를 참고했다. 이 슬라이드의 참고 화면은 현재 보관된 사이트 캡처라 영상 당시 장면과 다를 수 있다. 목표는 호숫가 오두막 세 채의 빈 날짜 확인과 예약이다. 자신의 로고를 쓰고, 카드마다 이름·사진·정원·시작 가격을 넣도록 지시했다. 움직이는 구간과 조용한 구간을 번갈아 놓고, 어두운 배경의 글자 가독성을 스크린샷으로 확인한다. 오른쪽 Blackwater 결과는 기존 영상 Figure로, 원본 자체에서 왼쪽 헤드라인이 잘려 있어 보조 크기로 사용했다. URL: https://www.nimmobay.com/ ; https://vipp.com/en/world-of-vipp/our-guesthouses ; https://www.aman.com/resorts/amangiri</a:t>
            </a:r>
          </a:p>
          <a:p/>
          <a:p>
            <a:r>
              <a:t>이미지 출처:</a:t>
            </a:r>
          </a:p>
          <a:p>
            <a:r>
              <a:t>slides/img/sites/nimmobay.png</a:t>
            </a:r>
          </a:p>
          <a:p>
            <a:r>
              <a:t>slides/img/sites/vipp-2.png</a:t>
            </a:r>
          </a:p>
          <a:p>
            <a:r>
              <a:t>slides/img/sites/amangiri-2.png</a:t>
            </a:r>
          </a:p>
          <a:p>
            <a:r>
              <a:t>assets/guide1-mov/crops/52-blackwater-cabins.png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§6 실행 전 준비</a:t>
            </a:r>
          </a:p>
          <a:p/>
          <a:p>
            <a:r>
              <a:t>출처: HOW_DESIGN_FROM_CC.md §6. frontend-design 설치 명령: claude plugin install frontend-design@claude-plugins-official . 세션에서 /model로 Opus를 선택하면 별도 설정이 없는 서브에이전트도 메인 모델을 따른다. 화면을 직접 열고 캡처할 도구로 Playwright 플러그인을 권하며 설치 명령은 claude plugin install playwright@claude-plugins-official 이다. 참고 자료와 로고는 ref/에 저장한다. 이미지·영상 생성은 별도 생성 도구가 필요하며 연결하지 않았다면 자리를 비우고 직접 자료를 넣는다. frontend-design은 계획을 세우고 스스로 화면을 검토하는 지침이다. 특정 글꼴·보라색을 금지한 것은 원문의 개별 의뢰이며 현재 스킬의 보편적 금지 규칙처럼 말하지 않는다. 오른쪽은 준비 항목을 나타낸 도식이다. URL: https://github.com/anthropics/skills/tree/main/skills/frontend-design ; https://code.claude.com/docs/en/discover-plugins ; https://code.claude.com/docs/en/model-config ; https://code.claude.com/docs/en/sub-agents</a:t>
            </a:r>
          </a:p>
          <a:p/>
          <a:p>
            <a:r>
              <a:t>이미지 출처:</a:t>
            </a:r>
          </a:p>
          <a:p>
            <a:r>
              <a:t>slides/img/sites/frontenddesign.png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§7–8 실행과 검증</a:t>
            </a:r>
          </a:p>
          <a:p/>
          <a:p>
            <a:r>
              <a:t>출처: HOW_DESIGN_FROM_CC.md §7–8. 이 슬라이드의 두 화면은 평가 방식 설명을 위한 참고·결과 Figure이며 실제 평가 점수나 승패를 주장하지 않는다. 프롬프트를 실행하고 workbench.md에 진행 상황을 기록한다. 목표를 따로 개선·평가 가능한 조각으로 나누고 제작자와 새 맥락의 평가자를 분리한다. 평가자는 제작자의 설명 대신 실제 스크린샷을 본다. 히어로는 히어로 참고 화면, 카드는 카드 참고 화면과 비교한다. 참고 사이트와 겉모습이 다르다는 이유로 패배 판정을 하지 않는다. 참고 사이트가 더 낫다면 가장 큰 차이 하나를 제작자에게 반환한다. 종료 기준: 우리 결과가 이기거나, 개선 폭이 매우 작아지거나, 사전에 정한 시간·비용 상한에 닿거나, 사용자가 중단할 때 멈춘다. 종료 시 남은 차이를 보고한다. 문서의 시간 상한 예시는 2시간이며 고정 규칙은 아니다. 데스크톱 1440px와 모바일 390px에서 맨 위·각 구간·맨 아래를 확인한다. 잘림, 가독성, 스크롤, 버튼, 강조색 규칙, 한 가지 CTA, reduced-motion, 3D·영상 대체 화면, 키보드 초점, 페이지 크기를 점검한다. 수정 요청은 위치·화면 크기·실제 문제·원하는 결과를 적고 한 번에 한 문제씩 전달한다. 루프 원문: https://somethingbig.ai/gauntlet-loop . 스크린샷을 통한 자체 검증이 가능하도록 브라우저 도구가 연결돼 있어야 한다.</a:t>
            </a:r>
          </a:p>
          <a:p/>
          <a:p>
            <a:r>
              <a:t>이미지 출처:</a:t>
            </a:r>
          </a:p>
          <a:p>
            <a:r>
              <a:t>slides/img/sites/oryzo-2.png</a:t>
            </a:r>
          </a:p>
          <a:p>
            <a:r>
              <a:t>assets/guide1-mov/crops/51-southside-brewing.png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HOW_DESIGN_FROM_CC.md · §9 디자인 시스템</a:t>
            </a:r>
          </a:p>
          <a:p/>
          <a:p>
            <a:r>
              <a:t>출처: HOW_DESIGN_FROM_CC.md §9. 완성된 페이지의 색·글꼴·간격·컴포넌트·움직임 규칙을 디자인 시스템 문서로 정리하고 다음 작업에서 읽게 한다. Refero Styles는 디자인 시스템을 DESIGN.md 형식으로 제공한다. 원문은 같은 사이트의 DESIGN.md와 전체 페이지 캡처를 함께 주라고 권한다. 파일은 규칙을, 캡처는 실제 모습을 전달한다. 오른쪽은 이런 문서에 담기는 항목을 시각화한 개념도이며 Refero에서 다운로드한 파일 내용이나 공식 브랜드 가이드가 아니다. 색 칩은 앞의 Blackwater 설명을 표현한 예시다. Refero 문서는 공식 브랜드 가이드가 아님을 구분한다. Claude Code 또는 Claude Design에 직접 정리를 맡길 수도 있고, Branding Style Guides의 실제 가이드는 문서 구성 참고 자료로 쓴다. URL: https://styles.refero.design/ ; https://styles.refero.design/design-md/what-is-design-md ; https://claude.com/product/design ; https://brandingstyleguides.com/</a:t>
            </a:r>
          </a:p>
          <a:p/>
          <a:p>
            <a:r>
              <a:t>이미지 출처:</a:t>
            </a:r>
          </a:p>
          <a:p>
            <a:r>
              <a:t>slides/img/sites/referostyles.png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사용자 첨부 이미지</a:t>
            </a:r>
          </a:p>
          <a:p/>
          <a:p>
            <a:r>
              <a:t>마지막 장에 배치한 AI·SW 마에스트로 디자인 시안 모음. 원본 비율과 전체 영역을 유지한다.</a:t>
            </a:r>
          </a:p>
          <a:p/>
          <a:p>
            <a:r>
              <a:t>이미지 출처:</a:t>
            </a:r>
          </a:p>
          <a:p>
            <a:r>
              <a:t>slides/img/ai-sw-design-collection.png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image" Target="../media/image20.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image" Target="../media/image36.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1.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DESIGN EYE</a:t>
            </a:r>
          </a:p>
        </p:txBody>
      </p:sp>
      <p:sp>
        <p:nvSpPr>
          <p:cNvPr id="3" name="TextBox 2"/>
          <p:cNvSpPr txBox="1"/>
          <p:nvPr/>
        </p:nvSpPr>
        <p:spPr>
          <a:xfrm>
            <a:off x="914400" y="2571750"/>
            <a:ext cx="5429250" cy="2095499"/>
          </a:xfrm>
          <a:prstGeom prst="rect">
            <a:avLst/>
          </a:prstGeom>
          <a:noFill/>
        </p:spPr>
        <p:txBody>
          <a:bodyPr wrap="square" lIns="0" rIns="0" tIns="0" bIns="0" anchor="t">
            <a:spAutoFit/>
          </a:bodyPr>
          <a:lstStyle/>
          <a:p>
            <a:pPr algn="l">
              <a:lnSpc>
                <a:spcPct val="110000"/>
              </a:lnSpc>
              <a:spcBef>
                <a:spcPts val="0"/>
              </a:spcBef>
              <a:spcAft>
                <a:spcPts val="0"/>
              </a:spcAft>
              <a:defRPr sz="6600" b="1">
                <a:solidFill>
                  <a:srgbClr val="24231F"/>
                </a:solidFill>
                <a:latin typeface="Pretendard"/>
              </a:defRPr>
            </a:pPr>
            <a:r>
              <a:rPr lang="ko-KR">
                <a:ln w="20116">
                  <a:solidFill>
                    <a:srgbClr val="24231F"/>
                  </a:solidFill>
                </a:ln>
                <a:ea typeface="Pretendard"/>
              </a:rPr>
              <a:t>Claude의</a:t>
            </a:r>
          </a:p>
          <a:p>
            <a:pPr algn="l">
              <a:lnSpc>
                <a:spcPct val="110000"/>
              </a:lnSpc>
              <a:spcBef>
                <a:spcPts val="0"/>
              </a:spcBef>
              <a:spcAft>
                <a:spcPts val="0"/>
              </a:spcAft>
              <a:defRPr sz="6600" b="1">
                <a:solidFill>
                  <a:srgbClr val="24231F"/>
                </a:solidFill>
                <a:latin typeface="Pretendard"/>
              </a:defRPr>
            </a:pPr>
            <a:r>
              <a:rPr lang="ko-KR">
                <a:ln w="20116">
                  <a:solidFill>
                    <a:srgbClr val="24231F"/>
                  </a:solidFill>
                </a:ln>
                <a:ea typeface="Pretendard"/>
              </a:rPr>
              <a:t>디자인 안목</a:t>
            </a:r>
          </a:p>
        </p:txBody>
      </p:sp>
      <p:pic>
        <p:nvPicPr>
          <p:cNvPr id="4" name="51-southside-brewing" descr="51-southside-brewing.png"/>
          <p:cNvPicPr>
            <a:picLocks noChangeAspect="1"/>
          </p:cNvPicPr>
          <p:nvPr/>
        </p:nvPicPr>
        <p:blipFill>
          <a:blip r:embed="rId2"/>
          <a:srcRect/>
          <a:stretch>
            <a:fillRect/>
          </a:stretch>
        </p:blipFill>
        <p:spPr>
          <a:xfrm>
            <a:off x="6953250" y="1559053"/>
            <a:ext cx="11334750" cy="6749792"/>
          </a:xfrm>
          <a:prstGeom prst="rect">
            <a:avLst/>
          </a:prstGeom>
        </p:spPr>
      </p:pic>
      <p:sp>
        <p:nvSpPr>
          <p:cNvPr id="5" name="TextBox 4"/>
          <p:cNvSpPr txBox="1"/>
          <p:nvPr/>
        </p:nvSpPr>
        <p:spPr>
          <a:xfrm>
            <a:off x="914400" y="5048250"/>
            <a:ext cx="4667250" cy="1666875"/>
          </a:xfrm>
          <a:prstGeom prst="rect">
            <a:avLst/>
          </a:prstGeom>
          <a:noFill/>
        </p:spPr>
        <p:txBody>
          <a:bodyPr wrap="square" lIns="0" rIns="0" tIns="0" bIns="0" anchor="t">
            <a:spAutoFit/>
          </a:bodyPr>
          <a:lstStyle/>
          <a:p>
            <a:pPr algn="l">
              <a:lnSpc>
                <a:spcPct val="150000"/>
              </a:lnSpc>
              <a:spcBef>
                <a:spcPts val="0"/>
              </a:spcBef>
              <a:spcAft>
                <a:spcPts val="0"/>
              </a:spcAft>
              <a:defRPr sz="2100" b="0">
                <a:solidFill>
                  <a:srgbClr val="756F65"/>
                </a:solidFill>
                <a:latin typeface="Pretendard"/>
              </a:defRPr>
            </a:pPr>
            <a:r>
              <a:rPr lang="ko-KR">
                <a:ea typeface="Pretendard"/>
              </a:rPr>
              <a:t>레퍼런스로 방향을 정하고, 반복과 비교로 완성도를 높인다.</a:t>
            </a:r>
          </a:p>
        </p:txBody>
      </p:sp>
      <p:sp>
        <p:nvSpPr>
          <p:cNvPr id="6" name="TextBox 5"/>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7" name="TextBox 6"/>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8" name="TextBox 7"/>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01 / 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p>
        </p:txBody>
      </p:sp>
      <p:pic>
        <p:nvPicPr>
          <p:cNvPr id="4" name="ai-slop" descr="ai-slop.jpg"/>
          <p:cNvPicPr>
            <a:picLocks noChangeAspect="1"/>
          </p:cNvPicPr>
          <p:nvPr/>
        </p:nvPicPr>
        <p:blipFill>
          <a:blip r:embed="rId2"/>
          <a:srcRect/>
          <a:stretch>
            <a:fillRect/>
          </a:stretch>
        </p:blipFill>
        <p:spPr>
          <a:xfrm>
            <a:off x="0" y="285750"/>
            <a:ext cx="18288000" cy="9144000"/>
          </a:xfrm>
          <a:prstGeom prst="rect">
            <a:avLst/>
          </a:prstGeom>
        </p:spPr>
      </p:pic>
      <p:sp>
        <p:nvSpPr>
          <p:cNvPr id="5" name="TextBox 4"/>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6" name="TextBox 5"/>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7" name="TextBox 6"/>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02 / 39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막연한 요청과 평균적 결과</a:t>
            </a:r>
          </a:p>
        </p:txBody>
      </p:sp>
      <p:pic>
        <p:nvPicPr>
          <p:cNvPr id="4" name="02-you-ask-for-prompt" descr="02-you-ask-for-prompt.png"/>
          <p:cNvPicPr>
            <a:picLocks noChangeAspect="1"/>
          </p:cNvPicPr>
          <p:nvPr/>
        </p:nvPicPr>
        <p:blipFill>
          <a:blip r:embed="rId2"/>
          <a:srcRect/>
          <a:stretch>
            <a:fillRect/>
          </a:stretch>
        </p:blipFill>
        <p:spPr>
          <a:xfrm>
            <a:off x="1584734" y="2266950"/>
            <a:ext cx="7327080" cy="2333625"/>
          </a:xfrm>
          <a:prstGeom prst="rect">
            <a:avLst/>
          </a:prstGeom>
        </p:spPr>
      </p:pic>
      <p:pic>
        <p:nvPicPr>
          <p:cNvPr id="5" name="03-press-crushing" descr="03-press-crushing.png"/>
          <p:cNvPicPr>
            <a:picLocks noChangeAspect="1"/>
          </p:cNvPicPr>
          <p:nvPr/>
        </p:nvPicPr>
        <p:blipFill>
          <a:blip r:embed="rId3"/>
          <a:srcRect/>
          <a:stretch>
            <a:fillRect/>
          </a:stretch>
        </p:blipFill>
        <p:spPr>
          <a:xfrm>
            <a:off x="916929" y="4857750"/>
            <a:ext cx="9519940" cy="3381375"/>
          </a:xfrm>
          <a:prstGeom prst="rect">
            <a:avLst/>
          </a:prstGeom>
        </p:spPr>
      </p:pic>
      <p:pic>
        <p:nvPicPr>
          <p:cNvPr id="6" name="04-average-website-mockup" descr="04-average-website-mockup.png"/>
          <p:cNvPicPr>
            <a:picLocks noChangeAspect="1"/>
          </p:cNvPicPr>
          <p:nvPr/>
        </p:nvPicPr>
        <p:blipFill>
          <a:blip r:embed="rId4"/>
          <a:srcRect/>
          <a:stretch>
            <a:fillRect/>
          </a:stretch>
        </p:blipFill>
        <p:spPr>
          <a:xfrm>
            <a:off x="11430000" y="3879476"/>
            <a:ext cx="5943600" cy="3671047"/>
          </a:xfrm>
          <a:prstGeom prst="rect">
            <a:avLst/>
          </a:prstGeom>
        </p:spPr>
      </p:pic>
      <p:sp>
        <p:nvSpPr>
          <p:cNvPr id="7" name="TextBox 6"/>
          <p:cNvSpPr txBox="1"/>
          <p:nvPr/>
        </p:nvSpPr>
        <p:spPr>
          <a:xfrm>
            <a:off x="10477500" y="5019675"/>
            <a:ext cx="762000" cy="85725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8" name="TextBox 7"/>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추상적인 요청은 익숙한 색과 구조로 수렴하기 쉽다.</a:t>
            </a:r>
          </a:p>
        </p:txBody>
      </p:sp>
      <p:sp>
        <p:nvSpPr>
          <p:cNvPr id="9" name="TextBox 8"/>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0" name="TextBox 9"/>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11" name="TextBox 10"/>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03 / 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사람의 방향 설정과 Claude의 구현</a:t>
            </a:r>
          </a:p>
        </p:txBody>
      </p:sp>
      <p:pic>
        <p:nvPicPr>
          <p:cNvPr id="4" name="DIRECTOR" descr="09-film-slate.png"/>
          <p:cNvPicPr>
            <a:picLocks noChangeAspect="1"/>
          </p:cNvPicPr>
          <p:nvPr/>
        </p:nvPicPr>
        <p:blipFill>
          <a:blip r:embed="rId2"/>
          <a:srcRect/>
          <a:stretch>
            <a:fillRect/>
          </a:stretch>
        </p:blipFill>
        <p:spPr>
          <a:xfrm>
            <a:off x="914400" y="2653687"/>
            <a:ext cx="7334250" cy="5313000"/>
          </a:xfrm>
          <a:prstGeom prst="rect">
            <a:avLst/>
          </a:prstGeom>
        </p:spPr>
      </p:pic>
      <p:sp>
        <p:nvSpPr>
          <p:cNvPr id="5" name="TextBox 4"/>
          <p:cNvSpPr txBox="1"/>
          <p:nvPr/>
        </p:nvSpPr>
        <p:spPr>
          <a:xfrm>
            <a:off x="914400" y="8305800"/>
            <a:ext cx="73342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DIRECTOR</a:t>
            </a:r>
          </a:p>
        </p:txBody>
      </p:sp>
      <p:pic>
        <p:nvPicPr>
          <p:cNvPr id="6" name="REFERENCE" descr="10-character-holding-reference.png"/>
          <p:cNvPicPr>
            <a:picLocks noChangeAspect="1"/>
          </p:cNvPicPr>
          <p:nvPr/>
        </p:nvPicPr>
        <p:blipFill>
          <a:blip r:embed="rId3"/>
          <a:srcRect/>
          <a:stretch>
            <a:fillRect/>
          </a:stretch>
        </p:blipFill>
        <p:spPr>
          <a:xfrm>
            <a:off x="9525000" y="2893528"/>
            <a:ext cx="7848600" cy="4833318"/>
          </a:xfrm>
          <a:prstGeom prst="rect">
            <a:avLst/>
          </a:prstGeom>
        </p:spPr>
      </p:pic>
      <p:sp>
        <p:nvSpPr>
          <p:cNvPr id="7" name="TextBox 6"/>
          <p:cNvSpPr txBox="1"/>
          <p:nvPr/>
        </p:nvSpPr>
        <p:spPr>
          <a:xfrm>
            <a:off x="9525000" y="8305800"/>
            <a:ext cx="78486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REFERENCE</a:t>
            </a:r>
          </a:p>
        </p:txBody>
      </p:sp>
      <p:sp>
        <p:nvSpPr>
          <p:cNvPr id="8" name="TextBox 7"/>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사람이 레퍼런스로 방향을 정하고 Claude가 구현한다.</a:t>
            </a:r>
          </a:p>
        </p:txBody>
      </p:sp>
      <p:sp>
        <p:nvSpPr>
          <p:cNvPr id="9" name="TextBox 8"/>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0" name="TextBox 9"/>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11" name="TextBox 10"/>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04 / 39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품질 기준과 반복 개선</a:t>
            </a:r>
          </a:p>
        </p:txBody>
      </p:sp>
      <p:pic>
        <p:nvPicPr>
          <p:cNvPr id="4" name="14-loop-diagram-cleared" descr="14-loop-diagram-cleared.png"/>
          <p:cNvPicPr>
            <a:picLocks noChangeAspect="1"/>
          </p:cNvPicPr>
          <p:nvPr/>
        </p:nvPicPr>
        <p:blipFill>
          <a:blip r:embed="rId2"/>
          <a:srcRect/>
          <a:stretch>
            <a:fillRect/>
          </a:stretch>
        </p:blipFill>
        <p:spPr>
          <a:xfrm>
            <a:off x="3621707" y="2247900"/>
            <a:ext cx="11044585" cy="656272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결과를 비교하며 품질 기준을 넘을 때까지 다듬는다.</a:t>
            </a:r>
          </a:p>
        </p:txBody>
      </p:sp>
      <p:sp>
        <p:nvSpPr>
          <p:cNvPr id="6" name="TextBox 5"/>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7" name="TextBox 6"/>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8" name="TextBox 7"/>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05 / 39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시각적 예시의 힘</a:t>
            </a:r>
          </a:p>
        </p:txBody>
      </p:sp>
      <p:pic>
        <p:nvPicPr>
          <p:cNvPr id="4" name="18-style-adjective-chips" descr="18-style-adjective-chips.png"/>
          <p:cNvPicPr>
            <a:picLocks noChangeAspect="1"/>
          </p:cNvPicPr>
          <p:nvPr/>
        </p:nvPicPr>
        <p:blipFill>
          <a:blip r:embed="rId2"/>
          <a:srcRect/>
          <a:stretch>
            <a:fillRect/>
          </a:stretch>
        </p:blipFill>
        <p:spPr>
          <a:xfrm>
            <a:off x="1951337" y="2476500"/>
            <a:ext cx="4955574" cy="4190999"/>
          </a:xfrm>
          <a:prstGeom prst="rect">
            <a:avLst/>
          </a:prstGeom>
        </p:spPr>
      </p:pic>
      <p:pic>
        <p:nvPicPr>
          <p:cNvPr id="5" name="19-results-gauge-meh" descr="19-results-gauge-meh.png"/>
          <p:cNvPicPr>
            <a:picLocks noChangeAspect="1"/>
          </p:cNvPicPr>
          <p:nvPr/>
        </p:nvPicPr>
        <p:blipFill>
          <a:blip r:embed="rId3"/>
          <a:srcRect/>
          <a:stretch>
            <a:fillRect/>
          </a:stretch>
        </p:blipFill>
        <p:spPr>
          <a:xfrm>
            <a:off x="3309692" y="6972300"/>
            <a:ext cx="2238865" cy="1809750"/>
          </a:xfrm>
          <a:prstGeom prst="rect">
            <a:avLst/>
          </a:prstGeom>
        </p:spPr>
      </p:pic>
      <p:pic>
        <p:nvPicPr>
          <p:cNvPr id="6" name="25-example-cards-stack" descr="25-example-cards-stack.png"/>
          <p:cNvPicPr>
            <a:picLocks noChangeAspect="1"/>
          </p:cNvPicPr>
          <p:nvPr/>
        </p:nvPicPr>
        <p:blipFill>
          <a:blip r:embed="rId4"/>
          <a:srcRect/>
          <a:stretch>
            <a:fillRect/>
          </a:stretch>
        </p:blipFill>
        <p:spPr>
          <a:xfrm>
            <a:off x="10236865" y="2285999"/>
            <a:ext cx="6196269" cy="4333875"/>
          </a:xfrm>
          <a:prstGeom prst="rect">
            <a:avLst/>
          </a:prstGeom>
        </p:spPr>
      </p:pic>
      <p:pic>
        <p:nvPicPr>
          <p:cNvPr id="7" name="22-results-gauge-much-better" descr="22-results-gauge-much-better.png"/>
          <p:cNvPicPr>
            <a:picLocks noChangeAspect="1"/>
          </p:cNvPicPr>
          <p:nvPr/>
        </p:nvPicPr>
        <p:blipFill>
          <a:blip r:embed="rId5"/>
          <a:srcRect/>
          <a:stretch>
            <a:fillRect/>
          </a:stretch>
        </p:blipFill>
        <p:spPr>
          <a:xfrm>
            <a:off x="12358442" y="6924675"/>
            <a:ext cx="2238865" cy="1809750"/>
          </a:xfrm>
          <a:prstGeom prst="rect">
            <a:avLst/>
          </a:prstGeom>
        </p:spPr>
      </p:pic>
      <p:sp>
        <p:nvSpPr>
          <p:cNvPr id="8" name="TextBox 7"/>
          <p:cNvSpPr txBox="1"/>
          <p:nvPr/>
        </p:nvSpPr>
        <p:spPr>
          <a:xfrm>
            <a:off x="8324849" y="4190999"/>
            <a:ext cx="857250" cy="9525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9" name="TextBox 8"/>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스타일을 설명하는 형용사보다 실제 화면을 보여 준다.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06 / 39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영감의 다섯 가지 재료</a:t>
            </a:r>
          </a:p>
        </p:txBody>
      </p:sp>
      <p:pic>
        <p:nvPicPr>
          <p:cNvPr id="4" name="42-category-galleries" descr="42-category-galleries.png"/>
          <p:cNvPicPr>
            <a:picLocks noChangeAspect="1"/>
          </p:cNvPicPr>
          <p:nvPr/>
        </p:nvPicPr>
        <p:blipFill>
          <a:blip r:embed="rId2"/>
          <a:srcRect/>
          <a:stretch>
            <a:fillRect/>
          </a:stretch>
        </p:blipFill>
        <p:spPr>
          <a:xfrm>
            <a:off x="1095375" y="3704332"/>
            <a:ext cx="1381125" cy="1640085"/>
          </a:xfrm>
          <a:prstGeom prst="rect">
            <a:avLst/>
          </a:prstGeom>
        </p:spPr>
      </p:pic>
      <p:pic>
        <p:nvPicPr>
          <p:cNvPr id="5" name="43-category-real-apps" descr="43-category-real-apps.png"/>
          <p:cNvPicPr>
            <a:picLocks noChangeAspect="1"/>
          </p:cNvPicPr>
          <p:nvPr/>
        </p:nvPicPr>
        <p:blipFill>
          <a:blip r:embed="rId3"/>
          <a:srcRect/>
          <a:stretch>
            <a:fillRect/>
          </a:stretch>
        </p:blipFill>
        <p:spPr>
          <a:xfrm>
            <a:off x="2571750" y="3704332"/>
            <a:ext cx="1381125" cy="1640085"/>
          </a:xfrm>
          <a:prstGeom prst="rect">
            <a:avLst/>
          </a:prstGeom>
        </p:spPr>
      </p:pic>
      <p:pic>
        <p:nvPicPr>
          <p:cNvPr id="6" name="44-category-components" descr="44-category-components.png"/>
          <p:cNvPicPr>
            <a:picLocks noChangeAspect="1"/>
          </p:cNvPicPr>
          <p:nvPr/>
        </p:nvPicPr>
        <p:blipFill>
          <a:blip r:embed="rId4"/>
          <a:srcRect/>
          <a:stretch>
            <a:fillRect/>
          </a:stretch>
        </p:blipFill>
        <p:spPr>
          <a:xfrm>
            <a:off x="4894095" y="3238500"/>
            <a:ext cx="2165684" cy="2571750"/>
          </a:xfrm>
          <a:prstGeom prst="rect">
            <a:avLst/>
          </a:prstGeom>
        </p:spPr>
      </p:pic>
      <p:pic>
        <p:nvPicPr>
          <p:cNvPr id="7" name="45-category-fonts" descr="45-category-fonts.png"/>
          <p:cNvPicPr>
            <a:picLocks noChangeAspect="1"/>
          </p:cNvPicPr>
          <p:nvPr/>
        </p:nvPicPr>
        <p:blipFill>
          <a:blip r:embed="rId5"/>
          <a:srcRect/>
          <a:stretch>
            <a:fillRect/>
          </a:stretch>
        </p:blipFill>
        <p:spPr>
          <a:xfrm>
            <a:off x="8275470" y="3238500"/>
            <a:ext cx="2165684" cy="2571750"/>
          </a:xfrm>
          <a:prstGeom prst="rect">
            <a:avLst/>
          </a:prstGeom>
        </p:spPr>
      </p:pic>
      <p:pic>
        <p:nvPicPr>
          <p:cNvPr id="8" name="46-category-color" descr="46-category-color.png"/>
          <p:cNvPicPr>
            <a:picLocks noChangeAspect="1"/>
          </p:cNvPicPr>
          <p:nvPr/>
        </p:nvPicPr>
        <p:blipFill>
          <a:blip r:embed="rId6"/>
          <a:srcRect/>
          <a:stretch>
            <a:fillRect/>
          </a:stretch>
        </p:blipFill>
        <p:spPr>
          <a:xfrm>
            <a:off x="11656845" y="3238500"/>
            <a:ext cx="2165684" cy="2571750"/>
          </a:xfrm>
          <a:prstGeom prst="rect">
            <a:avLst/>
          </a:prstGeom>
        </p:spPr>
      </p:pic>
      <p:pic>
        <p:nvPicPr>
          <p:cNvPr id="9" name="47-category-systems" descr="47-category-systems.png"/>
          <p:cNvPicPr>
            <a:picLocks noChangeAspect="1"/>
          </p:cNvPicPr>
          <p:nvPr/>
        </p:nvPicPr>
        <p:blipFill>
          <a:blip r:embed="rId7"/>
          <a:srcRect/>
          <a:stretch>
            <a:fillRect/>
          </a:stretch>
        </p:blipFill>
        <p:spPr>
          <a:xfrm>
            <a:off x="15038220" y="3238500"/>
            <a:ext cx="2165684" cy="2571750"/>
          </a:xfrm>
          <a:prstGeom prst="rect">
            <a:avLst/>
          </a:prstGeom>
        </p:spPr>
      </p:pic>
      <p:sp>
        <p:nvSpPr>
          <p:cNvPr id="10" name="TextBox 9"/>
          <p:cNvSpPr txBox="1"/>
          <p:nvPr/>
        </p:nvSpPr>
        <p:spPr>
          <a:xfrm>
            <a:off x="1190625"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Reference</a:t>
            </a:r>
          </a:p>
        </p:txBody>
      </p:sp>
      <p:sp>
        <p:nvSpPr>
          <p:cNvPr id="11" name="TextBox 10"/>
          <p:cNvSpPr txBox="1"/>
          <p:nvPr/>
        </p:nvSpPr>
        <p:spPr>
          <a:xfrm>
            <a:off x="4857750"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Component</a:t>
            </a:r>
          </a:p>
        </p:txBody>
      </p:sp>
      <p:sp>
        <p:nvSpPr>
          <p:cNvPr id="12" name="TextBox 11"/>
          <p:cNvSpPr txBox="1"/>
          <p:nvPr/>
        </p:nvSpPr>
        <p:spPr>
          <a:xfrm>
            <a:off x="8239124"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Font</a:t>
            </a:r>
          </a:p>
        </p:txBody>
      </p:sp>
      <p:sp>
        <p:nvSpPr>
          <p:cNvPr id="13" name="TextBox 12"/>
          <p:cNvSpPr txBox="1"/>
          <p:nvPr/>
        </p:nvSpPr>
        <p:spPr>
          <a:xfrm>
            <a:off x="11620500"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Color</a:t>
            </a:r>
          </a:p>
        </p:txBody>
      </p:sp>
      <p:sp>
        <p:nvSpPr>
          <p:cNvPr id="14" name="TextBox 13"/>
          <p:cNvSpPr txBox="1"/>
          <p:nvPr/>
        </p:nvSpPr>
        <p:spPr>
          <a:xfrm>
            <a:off x="14573250" y="6667500"/>
            <a:ext cx="31432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24231F"/>
                </a:solidFill>
                <a:latin typeface="Pretendard"/>
              </a:defRPr>
            </a:pPr>
            <a:r>
              <a:rPr lang="ko-KR">
                <a:ea typeface="Pretendard"/>
              </a:rPr>
              <a:t>Design System</a:t>
            </a:r>
          </a:p>
        </p:txBody>
      </p:sp>
      <p:sp>
        <p:nvSpPr>
          <p:cNvPr id="15" name="TextBox 1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화면과 부품, 글꼴, 색, 디자인 규칙으로 취향을 구체화한다.</a:t>
            </a:r>
          </a:p>
        </p:txBody>
      </p:sp>
      <p:sp>
        <p:nvSpPr>
          <p:cNvPr id="16" name="TextBox 15"/>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7" name="TextBox 16"/>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01  디자인 방향</a:t>
            </a:r>
          </a:p>
        </p:txBody>
      </p:sp>
      <p:sp>
        <p:nvSpPr>
          <p:cNvPr id="18" name="TextBox 17"/>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07 / 39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41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ACA497"/>
                </a:solidFill>
                <a:latin typeface="Pretendard"/>
              </a:defRPr>
            </a:pPr>
            <a:r>
              <a:rPr lang="ko-KR">
                <a:ea typeface="Pretendard"/>
              </a:rPr>
              <a:t>탐색 · 01</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F6EFE2"/>
                </a:solidFill>
                <a:latin typeface="Pretendard"/>
              </a:defRPr>
            </a:pPr>
            <a:r>
              <a:rPr lang="ko-KR">
                <a:ln w="15544">
                  <a:solidFill>
                    <a:srgbClr val="F6EFE2"/>
                  </a:solidFill>
                </a:ln>
                <a:ea typeface="Pretendard"/>
              </a:rPr>
              <a:t>무작위 요청의 한계</a:t>
            </a:r>
          </a:p>
        </p:txBody>
      </p:sp>
      <p:pic>
        <p:nvPicPr>
          <p:cNvPr id="4" name="기본 프롬프트" descr="figure-05-7b59bdf3-8a82-46d1-94c2-4a1e60ea7cbf_1456x894.jpg"/>
          <p:cNvPicPr>
            <a:picLocks noChangeAspect="1"/>
          </p:cNvPicPr>
          <p:nvPr/>
        </p:nvPicPr>
        <p:blipFill>
          <a:blip r:embed="rId2"/>
          <a:srcRect/>
          <a:stretch>
            <a:fillRect/>
          </a:stretch>
        </p:blipFill>
        <p:spPr>
          <a:xfrm>
            <a:off x="1114957" y="2428875"/>
            <a:ext cx="7523684" cy="4619625"/>
          </a:xfrm>
          <a:prstGeom prst="rect">
            <a:avLst/>
          </a:prstGeom>
        </p:spPr>
      </p:pic>
      <p:sp>
        <p:nvSpPr>
          <p:cNvPr id="5" name="TextBox 4"/>
          <p:cNvSpPr txBox="1"/>
          <p:nvPr/>
        </p:nvSpPr>
        <p:spPr>
          <a:xfrm>
            <a:off x="914400" y="7162800"/>
            <a:ext cx="79247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C3BBAE"/>
                </a:solidFill>
                <a:latin typeface="Pretendard"/>
              </a:defRPr>
            </a:pPr>
            <a:r>
              <a:rPr lang="ko-KR">
                <a:ea typeface="Pretendard"/>
              </a:rPr>
              <a:t>기본 프롬프트</a:t>
            </a:r>
          </a:p>
        </p:txBody>
      </p:sp>
      <p:pic>
        <p:nvPicPr>
          <p:cNvPr id="6" name="“독특하고 무작위로”" descr="figure-06-f37064a7-2853-4314-b175-aa65b8a13f43_1456x876.jpg"/>
          <p:cNvPicPr>
            <a:picLocks noChangeAspect="1"/>
          </p:cNvPicPr>
          <p:nvPr/>
        </p:nvPicPr>
        <p:blipFill>
          <a:blip r:embed="rId3"/>
          <a:srcRect/>
          <a:stretch>
            <a:fillRect/>
          </a:stretch>
        </p:blipFill>
        <p:spPr>
          <a:xfrm>
            <a:off x="9572059" y="2428875"/>
            <a:ext cx="7678280" cy="4619625"/>
          </a:xfrm>
          <a:prstGeom prst="rect">
            <a:avLst/>
          </a:prstGeom>
        </p:spPr>
      </p:pic>
      <p:sp>
        <p:nvSpPr>
          <p:cNvPr id="7" name="TextBox 6"/>
          <p:cNvSpPr txBox="1"/>
          <p:nvPr/>
        </p:nvSpPr>
        <p:spPr>
          <a:xfrm>
            <a:off x="9448800" y="7162800"/>
            <a:ext cx="79247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C3BBAE"/>
                </a:solidFill>
                <a:latin typeface="Pretendard"/>
              </a:defRPr>
            </a:pPr>
            <a:r>
              <a:rPr lang="ko-KR">
                <a:ea typeface="Pretendard"/>
              </a:rPr>
              <a:t>“독특하고 무작위로”</a:t>
            </a:r>
          </a:p>
        </p:txBody>
      </p:sp>
      <p:sp>
        <p:nvSpPr>
          <p:cNvPr id="8" name="TextBox 7"/>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C3BBAE"/>
                </a:solidFill>
                <a:latin typeface="Pretendard"/>
              </a:defRPr>
            </a:pPr>
            <a:r>
              <a:rPr lang="ko-KR">
                <a:ea typeface="Pretendard"/>
              </a:rPr>
              <a:t>독특하고 무작위로 만들어 달라는 요청만으로는 다양한 결과를 얻기 어렵다.</a:t>
            </a:r>
          </a:p>
        </p:txBody>
      </p:sp>
      <p:sp>
        <p:nvSpPr>
          <p:cNvPr id="9" name="TextBox 8"/>
          <p:cNvSpPr txBox="1"/>
          <p:nvPr/>
        </p:nvSpPr>
        <p:spPr>
          <a:xfrm>
            <a:off x="914400" y="7762875"/>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기본 프롬프트 전문</a:t>
            </a:r>
          </a:p>
        </p:txBody>
      </p:sp>
      <p:sp>
        <p:nvSpPr>
          <p:cNvPr id="10" name="TextBox 9"/>
          <p:cNvSpPr txBox="1"/>
          <p:nvPr/>
        </p:nvSpPr>
        <p:spPr>
          <a:xfrm>
            <a:off x="914400" y="8239124"/>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제 생산성 앱의 랜딩 페이지를 만들어 주세요.</a:t>
            </a:r>
          </a:p>
        </p:txBody>
      </p:sp>
      <p:sp>
        <p:nvSpPr>
          <p:cNvPr id="11" name="TextBox 10"/>
          <p:cNvSpPr txBox="1"/>
          <p:nvPr/>
        </p:nvSpPr>
        <p:spPr>
          <a:xfrm>
            <a:off x="9448800" y="7762875"/>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무작위 요청 프롬프트 전문</a:t>
            </a:r>
          </a:p>
        </p:txBody>
      </p:sp>
      <p:sp>
        <p:nvSpPr>
          <p:cNvPr id="12" name="TextBox 11"/>
          <p:cNvSpPr txBox="1"/>
          <p:nvPr/>
        </p:nvSpPr>
        <p:spPr>
          <a:xfrm>
            <a:off x="9448800" y="8239124"/>
            <a:ext cx="7924799"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제 생산성 앱의 랜딩 페이지를 만들어 주세요. 아주 독특한 결과물을</a:t>
            </a:r>
          </a:p>
          <a:p>
            <a:pPr algn="l">
              <a:lnSpc>
                <a:spcPct val="140000"/>
              </a:lnSpc>
              <a:spcBef>
                <a:spcPts val="0"/>
              </a:spcBef>
              <a:spcAft>
                <a:spcPts val="0"/>
              </a:spcAft>
              <a:defRPr sz="2100" b="0">
                <a:solidFill>
                  <a:srgbClr val="F6EFE2"/>
                </a:solidFill>
                <a:latin typeface="Pretendard"/>
              </a:defRPr>
            </a:pPr>
            <a:r>
              <a:rPr lang="ko-KR">
                <a:ea typeface="Pretendard"/>
              </a:rPr>
              <a:t>원합니다. 디자인에 관한 모든 결정을 완전히 무작위로 내려 주세요.</a:t>
            </a:r>
          </a:p>
        </p:txBody>
      </p:sp>
      <p:sp>
        <p:nvSpPr>
          <p:cNvPr id="13" name="TextBox 12"/>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ACA497"/>
                </a:solidFill>
                <a:latin typeface="Pretendard"/>
              </a:defRPr>
            </a:pPr>
            <a:r>
              <a:rPr lang="ko-KR">
                <a:ea typeface="Pretendard"/>
              </a:rPr>
              <a:t>DESIGN EYE</a:t>
            </a:r>
          </a:p>
        </p:txBody>
      </p:sp>
      <p:sp>
        <p:nvSpPr>
          <p:cNvPr id="14" name="TextBox 13"/>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ACA497"/>
                </a:solidFill>
                <a:latin typeface="Pretendard"/>
              </a:defRPr>
            </a:pPr>
            <a:r>
              <a:rPr lang="ko-KR">
                <a:ea typeface="Pretendard"/>
              </a:rPr>
              <a:t>02  여덟 가지 기법</a:t>
            </a:r>
          </a:p>
        </p:txBody>
      </p:sp>
      <p:sp>
        <p:nvSpPr>
          <p:cNvPr id="15" name="TextBox 14"/>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ACA497"/>
                </a:solidFill>
                <a:latin typeface="Pretendard"/>
              </a:defRPr>
            </a:pPr>
            <a:r>
              <a:rPr lang="ko-KR">
                <a:ea typeface="Pretendard"/>
              </a:rPr>
              <a:t>08 / 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01</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시드 문자열과 디자인 다양성</a:t>
            </a:r>
          </a:p>
        </p:txBody>
      </p:sp>
      <p:sp>
        <p:nvSpPr>
          <p:cNvPr id="4" name="Rectangle 3"/>
          <p:cNvSpPr/>
          <p:nvPr/>
        </p:nvSpPr>
        <p:spPr>
          <a:xfrm>
            <a:off x="10172700" y="2333625"/>
            <a:ext cx="8115300" cy="7143750"/>
          </a:xfrm>
          <a:prstGeom prst="rect">
            <a:avLst/>
          </a:prstGeom>
          <a:solidFill>
            <a:srgbClr val="1414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figure-07-bcda7156-dbbd-4d18-a7fb-4cfc124563bf_1456x876" descr="figure-07-bcda7156-dbbd-4d18-a7fb-4cfc124563bf_1456x876.jpg"/>
          <p:cNvPicPr>
            <a:picLocks noChangeAspect="1"/>
          </p:cNvPicPr>
          <p:nvPr/>
        </p:nvPicPr>
        <p:blipFill>
          <a:blip r:embed="rId2"/>
          <a:srcRect/>
          <a:stretch>
            <a:fillRect/>
          </a:stretch>
        </p:blipFill>
        <p:spPr>
          <a:xfrm>
            <a:off x="914400" y="2930036"/>
            <a:ext cx="9067800" cy="5455626"/>
          </a:xfrm>
          <a:prstGeom prst="rect">
            <a:avLst/>
          </a:prstGeom>
        </p:spPr>
      </p:pic>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긴 무작위 문자열에서 색 조합과 레이아웃, 타이포그래피의 영감을 얻는다.</a:t>
            </a:r>
          </a:p>
        </p:txBody>
      </p:sp>
      <p:sp>
        <p:nvSpPr>
          <p:cNvPr id="7" name="TextBox 6"/>
          <p:cNvSpPr txBox="1"/>
          <p:nvPr/>
        </p:nvSpPr>
        <p:spPr>
          <a:xfrm>
            <a:off x="10572750" y="27241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프롬프트 전문</a:t>
            </a:r>
          </a:p>
        </p:txBody>
      </p:sp>
      <p:sp>
        <p:nvSpPr>
          <p:cNvPr id="8" name="TextBox 7"/>
          <p:cNvSpPr txBox="1"/>
          <p:nvPr/>
        </p:nvSpPr>
        <p:spPr>
          <a:xfrm>
            <a:off x="10572750" y="3200400"/>
            <a:ext cx="680085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제 생산성 앱의 랜딩 페이지를 만들어 주세요.</a:t>
            </a:r>
          </a:p>
        </p:txBody>
      </p:sp>
      <p:sp>
        <p:nvSpPr>
          <p:cNvPr id="9" name="TextBox 8"/>
          <p:cNvSpPr txBox="1"/>
          <p:nvPr/>
        </p:nvSpPr>
        <p:spPr>
          <a:xfrm>
            <a:off x="10572750" y="3745230"/>
            <a:ext cx="680085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다음 순서대로 진행해 주세요.</a:t>
            </a:r>
          </a:p>
        </p:txBody>
      </p:sp>
      <p:sp>
        <p:nvSpPr>
          <p:cNvPr id="10" name="TextBox 9"/>
          <p:cNvSpPr txBox="1"/>
          <p:nvPr/>
        </p:nvSpPr>
        <p:spPr>
          <a:xfrm>
            <a:off x="10572750" y="429006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1. 셸 스크립트로 영문자와 숫자가 섞인 긴 무작위 문자열을</a:t>
            </a:r>
          </a:p>
          <a:p>
            <a:pPr algn="l">
              <a:lnSpc>
                <a:spcPct val="140000"/>
              </a:lnSpc>
              <a:spcBef>
                <a:spcPts val="0"/>
              </a:spcBef>
              <a:spcAft>
                <a:spcPts val="0"/>
              </a:spcAft>
              <a:defRPr sz="2100" b="0">
                <a:solidFill>
                  <a:srgbClr val="F6EFE2"/>
                </a:solidFill>
                <a:latin typeface="Pretendard"/>
              </a:defRPr>
            </a:pPr>
            <a:r>
              <a:rPr lang="ko-KR">
                <a:ea typeface="Pretendard"/>
              </a:rPr>
              <a:t>생성해 주세요.</a:t>
            </a:r>
          </a:p>
        </p:txBody>
      </p:sp>
      <p:sp>
        <p:nvSpPr>
          <p:cNvPr id="11" name="TextBox 10"/>
          <p:cNvSpPr txBox="1"/>
          <p:nvPr/>
        </p:nvSpPr>
        <p:spPr>
          <a:xfrm>
            <a:off x="10572750" y="5208270"/>
            <a:ext cx="6800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2. 그 문자열을 바탕으로 색 조합, 레이아웃, 타이포그래피 등</a:t>
            </a:r>
          </a:p>
          <a:p>
            <a:pPr algn="l">
              <a:lnSpc>
                <a:spcPct val="140000"/>
              </a:lnSpc>
              <a:spcBef>
                <a:spcPts val="0"/>
              </a:spcBef>
              <a:spcAft>
                <a:spcPts val="0"/>
              </a:spcAft>
              <a:defRPr sz="2100" b="0">
                <a:solidFill>
                  <a:srgbClr val="F6EFE2"/>
                </a:solidFill>
                <a:latin typeface="Pretendard"/>
              </a:defRPr>
            </a:pPr>
            <a:r>
              <a:rPr lang="ko-KR">
                <a:ea typeface="Pretendard"/>
              </a:rPr>
              <a:t>디자인 방향을 정해 주세요. 겉으로 보이는 것만 보지 말고,</a:t>
            </a:r>
          </a:p>
          <a:p>
            <a:pPr algn="l">
              <a:lnSpc>
                <a:spcPct val="140000"/>
              </a:lnSpc>
              <a:spcBef>
                <a:spcPts val="0"/>
              </a:spcBef>
              <a:spcAft>
                <a:spcPts val="0"/>
              </a:spcAft>
              <a:defRPr sz="2100" b="0">
                <a:solidFill>
                  <a:srgbClr val="F6EFE2"/>
                </a:solidFill>
                <a:latin typeface="Pretendard"/>
              </a:defRPr>
            </a:pPr>
            <a:r>
              <a:rPr lang="ko-KR">
                <a:ea typeface="Pretendard"/>
              </a:rPr>
              <a:t>문자열 안의 작은 패턴이나 특별한 숫자 등 영감을 줄 만한</a:t>
            </a:r>
          </a:p>
          <a:p>
            <a:pPr algn="l">
              <a:lnSpc>
                <a:spcPct val="140000"/>
              </a:lnSpc>
              <a:spcBef>
                <a:spcPts val="0"/>
              </a:spcBef>
              <a:spcAft>
                <a:spcPts val="0"/>
              </a:spcAft>
              <a:defRPr sz="2100" b="0">
                <a:solidFill>
                  <a:srgbClr val="F6EFE2"/>
                </a:solidFill>
                <a:latin typeface="Pretendard"/>
              </a:defRPr>
            </a:pPr>
            <a:r>
              <a:rPr lang="ko-KR">
                <a:ea typeface="Pretendard"/>
              </a:rPr>
              <a:t>요소를 찾아 주세요.</a:t>
            </a:r>
          </a:p>
        </p:txBody>
      </p:sp>
      <p:sp>
        <p:nvSpPr>
          <p:cNvPr id="12" name="TextBox 11"/>
          <p:cNvSpPr txBox="1"/>
          <p:nvPr/>
        </p:nvSpPr>
        <p:spPr>
          <a:xfrm>
            <a:off x="10572750" y="687324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3. 직접 판단해서 이 방향을 실제 디자인으로 구현하고 멋지게</a:t>
            </a:r>
          </a:p>
          <a:p>
            <a:pPr algn="l">
              <a:lnSpc>
                <a:spcPct val="140000"/>
              </a:lnSpc>
              <a:spcBef>
                <a:spcPts val="0"/>
              </a:spcBef>
              <a:spcAft>
                <a:spcPts val="0"/>
              </a:spcAft>
              <a:defRPr sz="2100" b="0">
                <a:solidFill>
                  <a:srgbClr val="F6EFE2"/>
                </a:solidFill>
                <a:latin typeface="Pretendard"/>
              </a:defRPr>
            </a:pPr>
            <a:r>
              <a:rPr lang="ko-KR">
                <a:ea typeface="Pretendard"/>
              </a:rPr>
              <a:t>만들어 주세요.</a:t>
            </a:r>
          </a:p>
        </p:txBody>
      </p:sp>
      <p:sp>
        <p:nvSpPr>
          <p:cNvPr id="13" name="TextBox 12"/>
          <p:cNvSpPr txBox="1"/>
          <p:nvPr/>
        </p:nvSpPr>
        <p:spPr>
          <a:xfrm>
            <a:off x="10572750" y="779145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문자열은 디자인에 드러내지 마세요. 영감을 얻는 용도로만</a:t>
            </a:r>
          </a:p>
          <a:p>
            <a:pPr algn="l">
              <a:lnSpc>
                <a:spcPct val="140000"/>
              </a:lnSpc>
              <a:spcBef>
                <a:spcPts val="0"/>
              </a:spcBef>
              <a:spcAft>
                <a:spcPts val="0"/>
              </a:spcAft>
              <a:defRPr sz="2100" b="0">
                <a:solidFill>
                  <a:srgbClr val="F6EFE2"/>
                </a:solidFill>
                <a:latin typeface="Pretendard"/>
              </a:defRPr>
            </a:pPr>
            <a:r>
              <a:rPr lang="ko-KR">
                <a:ea typeface="Pretendard"/>
              </a:rPr>
              <a:t>사용해 주세요.</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09 / 39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픽셀 아트 테마</a:t>
            </a:r>
          </a:p>
        </p:txBody>
      </p:sp>
      <p:pic>
        <p:nvPicPr>
          <p:cNvPr id="4" name="figure-08-3d880aa5-5e31-45f5-99c4-8055dcb87f4a_640x360" descr="figure-08.png"/>
          <p:cNvPicPr>
            <a:picLocks noChangeAspect="1"/>
          </p:cNvPicPr>
          <p:nvPr/>
        </p:nvPicPr>
        <p:blipFill>
          <a:blip r:embed="rId2"/>
          <a:srcRect/>
          <a:stretch>
            <a:fillRect/>
          </a:stretch>
        </p:blipFill>
        <p:spPr>
          <a:xfrm>
            <a:off x="914400" y="2764631"/>
            <a:ext cx="10287000" cy="5786437"/>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각 섹션을 비디오 게임의 한 장면처럼 만들되 랜딩 페이지의 역할을 유지한다.</a:t>
            </a:r>
          </a:p>
        </p:txBody>
      </p:sp>
      <p:sp>
        <p:nvSpPr>
          <p:cNvPr id="6" name="TextBox 5"/>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7" name="TextBox 6"/>
          <p:cNvSpPr txBox="1"/>
          <p:nvPr/>
        </p:nvSpPr>
        <p:spPr>
          <a:xfrm>
            <a:off x="11715750" y="3200400"/>
            <a:ext cx="5657850" cy="195262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생산성 앱의 랜딩 페이지를 만들어 주세요.</a:t>
            </a:r>
          </a:p>
          <a:p>
            <a:pPr algn="l">
              <a:lnSpc>
                <a:spcPct val="140000"/>
              </a:lnSpc>
              <a:spcBef>
                <a:spcPts val="0"/>
              </a:spcBef>
              <a:spcAft>
                <a:spcPts val="0"/>
              </a:spcAft>
              <a:defRPr sz="2100" b="0">
                <a:solidFill>
                  <a:srgbClr val="24231F"/>
                </a:solidFill>
                <a:latin typeface="Pretendard"/>
              </a:defRPr>
            </a:pPr>
            <a:r>
              <a:rPr lang="ko-KR">
                <a:ea typeface="Pretendard"/>
              </a:rPr>
              <a:t>과감한 픽셀 아트 테마와 멋진 그래픽을 사용해</a:t>
            </a:r>
          </a:p>
          <a:p>
            <a:pPr algn="l">
              <a:lnSpc>
                <a:spcPct val="140000"/>
              </a:lnSpc>
              <a:spcBef>
                <a:spcPts val="0"/>
              </a:spcBef>
              <a:spcAft>
                <a:spcPts val="0"/>
              </a:spcAft>
              <a:defRPr sz="2100" b="0">
                <a:solidFill>
                  <a:srgbClr val="24231F"/>
                </a:solidFill>
                <a:latin typeface="Pretendard"/>
              </a:defRPr>
            </a:pPr>
            <a:r>
              <a:rPr lang="ko-KR">
                <a:ea typeface="Pretendard"/>
              </a:rPr>
              <a:t>주세요. 각 섹션이 비디오 게임의 한 장면처럼</a:t>
            </a:r>
          </a:p>
          <a:p>
            <a:pPr algn="l">
              <a:lnSpc>
                <a:spcPct val="140000"/>
              </a:lnSpc>
              <a:spcBef>
                <a:spcPts val="0"/>
              </a:spcBef>
              <a:spcAft>
                <a:spcPts val="0"/>
              </a:spcAft>
              <a:defRPr sz="2100" b="0">
                <a:solidFill>
                  <a:srgbClr val="24231F"/>
                </a:solidFill>
                <a:latin typeface="Pretendard"/>
              </a:defRPr>
            </a:pPr>
            <a:r>
              <a:rPr lang="ko-KR">
                <a:ea typeface="Pretendard"/>
              </a:rPr>
              <a:t>느껴지면서도, 전체적으로는 랜딩 페이지의 역할을</a:t>
            </a:r>
          </a:p>
          <a:p>
            <a:pPr algn="l">
              <a:lnSpc>
                <a:spcPct val="140000"/>
              </a:lnSpc>
              <a:spcBef>
                <a:spcPts val="0"/>
              </a:spcBef>
              <a:spcAft>
                <a:spcPts val="0"/>
              </a:spcAft>
              <a:defRPr sz="2100" b="0">
                <a:solidFill>
                  <a:srgbClr val="24231F"/>
                </a:solidFill>
                <a:latin typeface="Pretendard"/>
              </a:defRPr>
            </a:pPr>
            <a:r>
              <a:rPr lang="ko-KR">
                <a:ea typeface="Pretendard"/>
              </a:rPr>
              <a:t>하게 만들어 주세요.”</a:t>
            </a:r>
          </a:p>
        </p:txBody>
      </p:sp>
      <p:sp>
        <p:nvSpPr>
          <p:cNvPr id="8" name="TextBox 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9" name="TextBox 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0" name="TextBox 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10 / 39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등각 투시 3D 도시</a:t>
            </a:r>
          </a:p>
        </p:txBody>
      </p:sp>
      <p:pic>
        <p:nvPicPr>
          <p:cNvPr id="4" name="figure-09-a7245156-8c71-4ecc-9897-5ce76e561faf_640x360" descr="figure-09.png"/>
          <p:cNvPicPr>
            <a:picLocks noChangeAspect="1"/>
          </p:cNvPicPr>
          <p:nvPr/>
        </p:nvPicPr>
        <p:blipFill>
          <a:blip r:embed="rId2"/>
          <a:srcRect/>
          <a:stretch>
            <a:fillRect/>
          </a:stretch>
        </p:blipFill>
        <p:spPr>
          <a:xfrm>
            <a:off x="914400" y="2764631"/>
            <a:ext cx="10287000" cy="5786437"/>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동네와 건물이 각각 다른 기능을 나타내는 3D 도시를 만든다.</a:t>
            </a:r>
          </a:p>
        </p:txBody>
      </p:sp>
      <p:sp>
        <p:nvSpPr>
          <p:cNvPr id="6" name="TextBox 5"/>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7" name="TextBox 6"/>
          <p:cNvSpPr txBox="1"/>
          <p:nvPr/>
        </p:nvSpPr>
        <p:spPr>
          <a:xfrm>
            <a:off x="11715750" y="3200400"/>
            <a:ext cx="5657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생산성 앱의 랜딩 페이지를 만들어 주세요. 등각</a:t>
            </a:r>
          </a:p>
          <a:p>
            <a:pPr algn="l">
              <a:lnSpc>
                <a:spcPct val="140000"/>
              </a:lnSpc>
              <a:spcBef>
                <a:spcPts val="0"/>
              </a:spcBef>
              <a:spcAft>
                <a:spcPts val="0"/>
              </a:spcAft>
              <a:defRPr sz="2100" b="0">
                <a:solidFill>
                  <a:srgbClr val="24231F"/>
                </a:solidFill>
                <a:latin typeface="Pretendard"/>
              </a:defRPr>
            </a:pPr>
            <a:r>
              <a:rPr lang="ko-KR">
                <a:ea typeface="Pretendard"/>
              </a:rPr>
              <a:t>투시로 보이는 생동감 있는 3D 도시를 배경으로</a:t>
            </a:r>
          </a:p>
          <a:p>
            <a:pPr algn="l">
              <a:lnSpc>
                <a:spcPct val="140000"/>
              </a:lnSpc>
              <a:spcBef>
                <a:spcPts val="0"/>
              </a:spcBef>
              <a:spcAft>
                <a:spcPts val="0"/>
              </a:spcAft>
              <a:defRPr sz="2100" b="0">
                <a:solidFill>
                  <a:srgbClr val="24231F"/>
                </a:solidFill>
                <a:latin typeface="Pretendard"/>
              </a:defRPr>
            </a:pPr>
            <a:r>
              <a:rPr lang="ko-KR">
                <a:ea typeface="Pretendard"/>
              </a:rPr>
              <a:t>삼고, 동네나 건물이 각각 다른 기능을 나타내도록</a:t>
            </a:r>
          </a:p>
          <a:p>
            <a:pPr algn="l">
              <a:lnSpc>
                <a:spcPct val="140000"/>
              </a:lnSpc>
              <a:spcBef>
                <a:spcPts val="0"/>
              </a:spcBef>
              <a:spcAft>
                <a:spcPts val="0"/>
              </a:spcAft>
              <a:defRPr sz="2100" b="0">
                <a:solidFill>
                  <a:srgbClr val="24231F"/>
                </a:solidFill>
                <a:latin typeface="Pretendard"/>
              </a:defRPr>
            </a:pPr>
            <a:r>
              <a:rPr lang="ko-KR">
                <a:ea typeface="Pretendard"/>
              </a:rPr>
              <a:t>만들어 주세요.”</a:t>
            </a:r>
          </a:p>
        </p:txBody>
      </p:sp>
      <p:sp>
        <p:nvSpPr>
          <p:cNvPr id="8" name="TextBox 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9" name="TextBox 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0" name="TextBox 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11 / 39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비대칭 디자인</a:t>
            </a:r>
          </a:p>
        </p:txBody>
      </p:sp>
      <p:pic>
        <p:nvPicPr>
          <p:cNvPr id="4" name="figure-10-220747d1-f561-405f-a95c-7b05fd64731b_640x360" descr="figure-10.png"/>
          <p:cNvPicPr>
            <a:picLocks noChangeAspect="1"/>
          </p:cNvPicPr>
          <p:nvPr/>
        </p:nvPicPr>
        <p:blipFill>
          <a:blip r:embed="rId2"/>
          <a:srcRect/>
          <a:stretch>
            <a:fillRect/>
          </a:stretch>
        </p:blipFill>
        <p:spPr>
          <a:xfrm>
            <a:off x="914400" y="2764631"/>
            <a:ext cx="10287000" cy="5786437"/>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극단적인 비대칭과 불편한 여백으로 익숙한 규칙에서 벗어난다.</a:t>
            </a:r>
          </a:p>
        </p:txBody>
      </p:sp>
      <p:sp>
        <p:nvSpPr>
          <p:cNvPr id="6" name="TextBox 5"/>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7" name="TextBox 6"/>
          <p:cNvSpPr txBox="1"/>
          <p:nvPr/>
        </p:nvSpPr>
        <p:spPr>
          <a:xfrm>
            <a:off x="11715750" y="3200400"/>
            <a:ext cx="5657850" cy="195262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생산성 앱의 랜딩 페이지를 만들어 주세요.</a:t>
            </a:r>
          </a:p>
          <a:p>
            <a:pPr algn="l">
              <a:lnSpc>
                <a:spcPct val="140000"/>
              </a:lnSpc>
              <a:spcBef>
                <a:spcPts val="0"/>
              </a:spcBef>
              <a:spcAft>
                <a:spcPts val="0"/>
              </a:spcAft>
              <a:defRPr sz="2100" b="0">
                <a:solidFill>
                  <a:srgbClr val="24231F"/>
                </a:solidFill>
                <a:latin typeface="Pretendard"/>
              </a:defRPr>
            </a:pPr>
            <a:r>
              <a:rPr lang="ko-KR">
                <a:ea typeface="Pretendard"/>
              </a:rPr>
              <a:t>극단적으로 비대칭인 레이아웃, 서로 어울리지 않는</a:t>
            </a:r>
          </a:p>
          <a:p>
            <a:pPr algn="l">
              <a:lnSpc>
                <a:spcPct val="140000"/>
              </a:lnSpc>
              <a:spcBef>
                <a:spcPts val="0"/>
              </a:spcBef>
              <a:spcAft>
                <a:spcPts val="0"/>
              </a:spcAft>
              <a:defRPr sz="2100" b="0">
                <a:solidFill>
                  <a:srgbClr val="24231F"/>
                </a:solidFill>
                <a:latin typeface="Pretendard"/>
              </a:defRPr>
            </a:pPr>
            <a:r>
              <a:rPr lang="ko-KR">
                <a:ea typeface="Pretendard"/>
              </a:rPr>
              <a:t>색과 타이포그래피, 불편하게 느껴지는 여백을 사용해</a:t>
            </a:r>
          </a:p>
          <a:p>
            <a:pPr algn="l">
              <a:lnSpc>
                <a:spcPct val="140000"/>
              </a:lnSpc>
              <a:spcBef>
                <a:spcPts val="0"/>
              </a:spcBef>
              <a:spcAft>
                <a:spcPts val="0"/>
              </a:spcAft>
              <a:defRPr sz="2100" b="0">
                <a:solidFill>
                  <a:srgbClr val="24231F"/>
                </a:solidFill>
                <a:latin typeface="Pretendard"/>
              </a:defRPr>
            </a:pPr>
            <a:r>
              <a:rPr lang="ko-KR">
                <a:ea typeface="Pretendard"/>
              </a:rPr>
              <a:t>주세요. 모든 규칙을 깨면서도 보기 좋게 만들어</a:t>
            </a:r>
          </a:p>
          <a:p>
            <a:pPr algn="l">
              <a:lnSpc>
                <a:spcPct val="140000"/>
              </a:lnSpc>
              <a:spcBef>
                <a:spcPts val="0"/>
              </a:spcBef>
              <a:spcAft>
                <a:spcPts val="0"/>
              </a:spcAft>
              <a:defRPr sz="2100" b="0">
                <a:solidFill>
                  <a:srgbClr val="24231F"/>
                </a:solidFill>
                <a:latin typeface="Pretendard"/>
              </a:defRPr>
            </a:pPr>
            <a:r>
              <a:rPr lang="ko-KR">
                <a:ea typeface="Pretendard"/>
              </a:rPr>
              <a:t>주세요.”</a:t>
            </a:r>
          </a:p>
        </p:txBody>
      </p:sp>
      <p:sp>
        <p:nvSpPr>
          <p:cNvPr id="8" name="TextBox 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9" name="TextBox 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0" name="TextBox 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12 / 39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아이디어의 폭넓은 탐색</a:t>
            </a:r>
          </a:p>
        </p:txBody>
      </p:sp>
      <p:pic>
        <p:nvPicPr>
          <p:cNvPr id="4" name="AI 답변" descr="figure-11-0e1d6d22-1828-47d5-b2f6-0d88fef90ae2_1456x571.png"/>
          <p:cNvPicPr>
            <a:picLocks noChangeAspect="1"/>
          </p:cNvPicPr>
          <p:nvPr/>
        </p:nvPicPr>
        <p:blipFill>
          <a:blip r:embed="rId2"/>
          <a:srcRect/>
          <a:stretch>
            <a:fillRect/>
          </a:stretch>
        </p:blipFill>
        <p:spPr>
          <a:xfrm>
            <a:off x="914400" y="3640721"/>
            <a:ext cx="10287000" cy="4034256"/>
          </a:xfrm>
          <a:prstGeom prst="rect">
            <a:avLst/>
          </a:prstGeom>
        </p:spPr>
      </p:pic>
      <p:sp>
        <p:nvSpPr>
          <p:cNvPr id="5" name="TextBox 4"/>
          <p:cNvSpPr txBox="1"/>
          <p:nvPr/>
        </p:nvSpPr>
        <p:spPr>
          <a:xfrm>
            <a:off x="914400" y="8915400"/>
            <a:ext cx="102870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AI 답변</a:t>
            </a:r>
          </a:p>
        </p:txBody>
      </p:sp>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아이디어를 최대한 많이 나열하고, 각각의 큰 방향만 짧게 제안받는다.</a:t>
            </a:r>
          </a:p>
        </p:txBody>
      </p:sp>
      <p:sp>
        <p:nvSpPr>
          <p:cNvPr id="7" name="TextBox 6"/>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8" name="TextBox 7"/>
          <p:cNvSpPr txBox="1"/>
          <p:nvPr/>
        </p:nvSpPr>
        <p:spPr>
          <a:xfrm>
            <a:off x="11715750" y="3200400"/>
            <a:ext cx="5657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제품에 과감하고 독특한 디자인 언어를 만들고</a:t>
            </a:r>
          </a:p>
          <a:p>
            <a:pPr algn="l">
              <a:lnSpc>
                <a:spcPct val="140000"/>
              </a:lnSpc>
              <a:spcBef>
                <a:spcPts val="0"/>
              </a:spcBef>
              <a:spcAft>
                <a:spcPts val="0"/>
              </a:spcAft>
              <a:defRPr sz="2100" b="0">
                <a:solidFill>
                  <a:srgbClr val="24231F"/>
                </a:solidFill>
                <a:latin typeface="Pretendard"/>
              </a:defRPr>
            </a:pPr>
            <a:r>
              <a:rPr lang="ko-KR">
                <a:ea typeface="Pretendard"/>
              </a:rPr>
              <a:t>싶습니다. 아이디어를 최대한 많이 나열하고, 각각의</a:t>
            </a:r>
          </a:p>
          <a:p>
            <a:pPr algn="l">
              <a:lnSpc>
                <a:spcPct val="140000"/>
              </a:lnSpc>
              <a:spcBef>
                <a:spcPts val="0"/>
              </a:spcBef>
              <a:spcAft>
                <a:spcPts val="0"/>
              </a:spcAft>
              <a:defRPr sz="2100" b="0">
                <a:solidFill>
                  <a:srgbClr val="24231F"/>
                </a:solidFill>
                <a:latin typeface="Pretendard"/>
              </a:defRPr>
            </a:pPr>
            <a:r>
              <a:rPr lang="ko-KR">
                <a:ea typeface="Pretendard"/>
              </a:rPr>
              <a:t>큰 방향만 짧게 설명해 주세요. 하나를 깊이</a:t>
            </a:r>
          </a:p>
          <a:p>
            <a:pPr algn="l">
              <a:lnSpc>
                <a:spcPct val="140000"/>
              </a:lnSpc>
              <a:spcBef>
                <a:spcPts val="0"/>
              </a:spcBef>
              <a:spcAft>
                <a:spcPts val="0"/>
              </a:spcAft>
              <a:defRPr sz="2100" b="0">
                <a:solidFill>
                  <a:srgbClr val="24231F"/>
                </a:solidFill>
                <a:latin typeface="Pretendard"/>
              </a:defRPr>
            </a:pPr>
            <a:r>
              <a:rPr lang="ko-KR">
                <a:ea typeface="Pretendard"/>
              </a:rPr>
              <a:t>설명하기보다 여러 방향을 폭넓게 제안해 주세요.</a:t>
            </a:r>
          </a:p>
        </p:txBody>
      </p:sp>
      <p:sp>
        <p:nvSpPr>
          <p:cNvPr id="9" name="TextBox 8"/>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0" name="TextBox 9"/>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1" name="TextBox 10"/>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13 / 39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취향 기반의 디자인 방향</a:t>
            </a:r>
          </a:p>
        </p:txBody>
      </p:sp>
      <p:pic>
        <p:nvPicPr>
          <p:cNvPr id="4" name="AI 답변" descr="figure-12-0e7340b1-9a93-4d94-abc6-c6b386f3a36c_1456x449.png"/>
          <p:cNvPicPr>
            <a:picLocks noChangeAspect="1"/>
          </p:cNvPicPr>
          <p:nvPr/>
        </p:nvPicPr>
        <p:blipFill>
          <a:blip r:embed="rId2"/>
          <a:srcRect/>
          <a:stretch>
            <a:fillRect/>
          </a:stretch>
        </p:blipFill>
        <p:spPr>
          <a:xfrm>
            <a:off x="914400" y="4259689"/>
            <a:ext cx="9067800" cy="2796320"/>
          </a:xfrm>
          <a:prstGeom prst="rect">
            <a:avLst/>
          </a:prstGeom>
        </p:spPr>
      </p:pic>
      <p:sp>
        <p:nvSpPr>
          <p:cNvPr id="5" name="TextBox 4"/>
          <p:cNvSpPr txBox="1"/>
          <p:nvPr/>
        </p:nvSpPr>
        <p:spPr>
          <a:xfrm>
            <a:off x="914400" y="8915400"/>
            <a:ext cx="906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AI 답변</a:t>
            </a:r>
          </a:p>
        </p:txBody>
      </p:sp>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원하는 질감과 피하고 싶은 표현을 구체적으로 전해 아이디어를 다듬는다.</a:t>
            </a:r>
          </a:p>
        </p:txBody>
      </p:sp>
      <p:sp>
        <p:nvSpPr>
          <p:cNvPr id="7" name="TextBox 6"/>
          <p:cNvSpPr txBox="1"/>
          <p:nvPr/>
        </p:nvSpPr>
        <p:spPr>
          <a:xfrm>
            <a:off x="10572750" y="27241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8" name="TextBox 7"/>
          <p:cNvSpPr txBox="1"/>
          <p:nvPr/>
        </p:nvSpPr>
        <p:spPr>
          <a:xfrm>
            <a:off x="10572750" y="3200400"/>
            <a:ext cx="680085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산업용 제어판:</a:t>
            </a:r>
          </a:p>
        </p:txBody>
      </p:sp>
      <p:sp>
        <p:nvSpPr>
          <p:cNvPr id="9" name="TextBox 8"/>
          <p:cNvSpPr txBox="1"/>
          <p:nvPr/>
        </p:nvSpPr>
        <p:spPr>
          <a:xfrm>
            <a:off x="10572750" y="374523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만지는 느낌이 떠오르는 디자인을 생각하고 있습니다. 딸깍</a:t>
            </a:r>
          </a:p>
          <a:p>
            <a:pPr algn="l">
              <a:lnSpc>
                <a:spcPct val="140000"/>
              </a:lnSpc>
              <a:spcBef>
                <a:spcPts val="0"/>
              </a:spcBef>
              <a:spcAft>
                <a:spcPts val="0"/>
              </a:spcAft>
              <a:defRPr sz="2100" b="0">
                <a:solidFill>
                  <a:srgbClr val="24231F"/>
                </a:solidFill>
                <a:latin typeface="Pretendard"/>
              </a:defRPr>
            </a:pPr>
            <a:r>
              <a:rPr lang="ko-KR">
                <a:ea typeface="Pretendard"/>
              </a:rPr>
              <a:t>누르는 맛이 있는 버튼과 듣기 좋은 소리를 원합니다.</a:t>
            </a:r>
          </a:p>
        </p:txBody>
      </p:sp>
      <p:sp>
        <p:nvSpPr>
          <p:cNvPr id="10" name="TextBox 9"/>
          <p:cNvSpPr txBox="1"/>
          <p:nvPr/>
        </p:nvSpPr>
        <p:spPr>
          <a:xfrm>
            <a:off x="10572750" y="4663440"/>
            <a:ext cx="680085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처음에는 만화 같은 모습이나 실제 사물을 그대로 닮은</a:t>
            </a:r>
          </a:p>
          <a:p>
            <a:pPr algn="l">
              <a:lnSpc>
                <a:spcPct val="140000"/>
              </a:lnSpc>
              <a:spcBef>
                <a:spcPts val="0"/>
              </a:spcBef>
              <a:spcAft>
                <a:spcPts val="0"/>
              </a:spcAft>
              <a:defRPr sz="2100" b="0">
                <a:solidFill>
                  <a:srgbClr val="24231F"/>
                </a:solidFill>
                <a:latin typeface="Pretendard"/>
              </a:defRPr>
            </a:pPr>
            <a:r>
              <a:rPr lang="ko-KR">
                <a:ea typeface="Pretendard"/>
              </a:rPr>
              <a:t>스큐어모픽 디자인을 떠올렸지만, 제 취향에는 촌스럽게</a:t>
            </a:r>
          </a:p>
          <a:p>
            <a:pPr algn="l">
              <a:lnSpc>
                <a:spcPct val="140000"/>
              </a:lnSpc>
              <a:spcBef>
                <a:spcPts val="0"/>
              </a:spcBef>
              <a:spcAft>
                <a:spcPts val="0"/>
              </a:spcAft>
              <a:defRPr sz="2100" b="0">
                <a:solidFill>
                  <a:srgbClr val="24231F"/>
                </a:solidFill>
                <a:latin typeface="Pretendard"/>
              </a:defRPr>
            </a:pPr>
            <a:r>
              <a:rPr lang="ko-KR">
                <a:ea typeface="Pretendard"/>
              </a:rPr>
              <a:t>느껴집니다. 그런 방식은 피해 주세요.</a:t>
            </a:r>
          </a:p>
        </p:txBody>
      </p:sp>
      <p:sp>
        <p:nvSpPr>
          <p:cNvPr id="11" name="TextBox 10"/>
          <p:cNvSpPr txBox="1"/>
          <p:nvPr/>
        </p:nvSpPr>
        <p:spPr>
          <a:xfrm>
            <a:off x="10572750" y="595503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대신 구성 요소를 일관되게 만들고, 작은 부분에 특징을 넣어서</a:t>
            </a:r>
          </a:p>
          <a:p>
            <a:pPr algn="l">
              <a:lnSpc>
                <a:spcPct val="140000"/>
              </a:lnSpc>
              <a:spcBef>
                <a:spcPts val="0"/>
              </a:spcBef>
              <a:spcAft>
                <a:spcPts val="0"/>
              </a:spcAft>
              <a:defRPr sz="2100" b="0">
                <a:solidFill>
                  <a:srgbClr val="24231F"/>
                </a:solidFill>
                <a:latin typeface="Pretendard"/>
              </a:defRPr>
            </a:pPr>
            <a:r>
              <a:rPr lang="ko-KR">
                <a:ea typeface="Pretendard"/>
              </a:rPr>
              <a:t>과하지 않게 제어판 느낌을 살려 주세요.</a:t>
            </a:r>
          </a:p>
        </p:txBody>
      </p:sp>
      <p:sp>
        <p:nvSpPr>
          <p:cNvPr id="12" name="TextBox 11"/>
          <p:cNvSpPr txBox="1"/>
          <p:nvPr/>
        </p:nvSpPr>
        <p:spPr>
          <a:xfrm>
            <a:off x="10572750" y="6873240"/>
            <a:ext cx="680085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회색 그라데이션은 지루해 보일 것 같습니다. 질감이 더</a:t>
            </a:r>
          </a:p>
          <a:p>
            <a:pPr algn="l">
              <a:lnSpc>
                <a:spcPct val="140000"/>
              </a:lnSpc>
              <a:spcBef>
                <a:spcPts val="0"/>
              </a:spcBef>
              <a:spcAft>
                <a:spcPts val="0"/>
              </a:spcAft>
              <a:defRPr sz="2100" b="0">
                <a:solidFill>
                  <a:srgbClr val="24231F"/>
                </a:solidFill>
                <a:latin typeface="Pretendard"/>
              </a:defRPr>
            </a:pPr>
            <a:r>
              <a:rPr lang="ko-KR">
                <a:ea typeface="Pretendard"/>
              </a:rPr>
              <a:t>필요합니다. 제어판 느낌은 유지하면서 색을 조금 넣어 볼 수</a:t>
            </a:r>
          </a:p>
          <a:p>
            <a:pPr algn="l">
              <a:lnSpc>
                <a:spcPct val="140000"/>
              </a:lnSpc>
              <a:spcBef>
                <a:spcPts val="0"/>
              </a:spcBef>
              <a:spcAft>
                <a:spcPts val="0"/>
              </a:spcAft>
              <a:defRPr sz="2100" b="0">
                <a:solidFill>
                  <a:srgbClr val="24231F"/>
                </a:solidFill>
                <a:latin typeface="Pretendard"/>
              </a:defRPr>
            </a:pPr>
            <a:r>
              <a:rPr lang="ko-KR">
                <a:ea typeface="Pretendard"/>
              </a:rPr>
              <a:t>있을까요?</a:t>
            </a:r>
          </a:p>
        </p:txBody>
      </p:sp>
      <p:sp>
        <p:nvSpPr>
          <p:cNvPr id="13" name="TextBox 12"/>
          <p:cNvSpPr txBox="1"/>
          <p:nvPr/>
        </p:nvSpPr>
        <p:spPr>
          <a:xfrm>
            <a:off x="10572750" y="8164830"/>
            <a:ext cx="680085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 취향을 바탕으로 이 아이디어를 더 다듬어 주세요.</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14 / 39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탐색 · 02</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제작용 프롬프트 구성</a:t>
            </a:r>
          </a:p>
        </p:txBody>
      </p:sp>
      <p:pic>
        <p:nvPicPr>
          <p:cNvPr id="4" name="AI 답변" descr="figure-13-4ca0ce7c-c730-443a-bde3-f62996b43c7d_1456x692.png"/>
          <p:cNvPicPr>
            <a:picLocks noChangeAspect="1"/>
          </p:cNvPicPr>
          <p:nvPr/>
        </p:nvPicPr>
        <p:blipFill>
          <a:blip r:embed="rId2"/>
          <a:srcRect/>
          <a:stretch>
            <a:fillRect/>
          </a:stretch>
        </p:blipFill>
        <p:spPr>
          <a:xfrm>
            <a:off x="914400" y="3503001"/>
            <a:ext cx="9067800" cy="4309696"/>
          </a:xfrm>
          <a:prstGeom prst="rect">
            <a:avLst/>
          </a:prstGeom>
        </p:spPr>
      </p:pic>
      <p:sp>
        <p:nvSpPr>
          <p:cNvPr id="5" name="TextBox 4"/>
          <p:cNvSpPr txBox="1"/>
          <p:nvPr/>
        </p:nvSpPr>
        <p:spPr>
          <a:xfrm>
            <a:off x="914400" y="8915400"/>
            <a:ext cx="906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AI 답변</a:t>
            </a:r>
          </a:p>
        </p:txBody>
      </p:sp>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선택한 방향을 개념 검증용 페이지를 만들 프롬프트로 정리한다.</a:t>
            </a:r>
          </a:p>
        </p:txBody>
      </p:sp>
      <p:sp>
        <p:nvSpPr>
          <p:cNvPr id="7" name="TextBox 6"/>
          <p:cNvSpPr txBox="1"/>
          <p:nvPr/>
        </p:nvSpPr>
        <p:spPr>
          <a:xfrm>
            <a:off x="10572750" y="27241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8" name="TextBox 7"/>
          <p:cNvSpPr txBox="1"/>
          <p:nvPr/>
        </p:nvSpPr>
        <p:spPr>
          <a:xfrm>
            <a:off x="10572750" y="3200400"/>
            <a:ext cx="6800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AI 에이전트가 이 아이디어로 초기 개념 검증용(POC) 페이지를</a:t>
            </a:r>
          </a:p>
          <a:p>
            <a:pPr algn="l">
              <a:lnSpc>
                <a:spcPct val="140000"/>
              </a:lnSpc>
              <a:spcBef>
                <a:spcPts val="0"/>
              </a:spcBef>
              <a:spcAft>
                <a:spcPts val="0"/>
              </a:spcAft>
              <a:defRPr sz="2100" b="0">
                <a:solidFill>
                  <a:srgbClr val="24231F"/>
                </a:solidFill>
                <a:latin typeface="Pretendard"/>
              </a:defRPr>
            </a:pPr>
            <a:r>
              <a:rPr lang="ko-KR">
                <a:ea typeface="Pretendard"/>
              </a:rPr>
              <a:t>만들 수 있도록 짧은 프롬프트를 작성해 주세요.</a:t>
            </a:r>
          </a:p>
        </p:txBody>
      </p:sp>
      <p:sp>
        <p:nvSpPr>
          <p:cNvPr id="9" name="TextBox 8"/>
          <p:cNvSpPr txBox="1"/>
          <p:nvPr/>
        </p:nvSpPr>
        <p:spPr>
          <a:xfrm>
            <a:off x="10572750" y="46672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AI가 작성한 프롬프트 · 그림에 표시된 범위</a:t>
            </a:r>
          </a:p>
        </p:txBody>
      </p:sp>
      <p:sp>
        <p:nvSpPr>
          <p:cNvPr id="10" name="TextBox 9"/>
          <p:cNvSpPr txBox="1"/>
          <p:nvPr/>
        </p:nvSpPr>
        <p:spPr>
          <a:xfrm>
            <a:off x="10572750" y="5143500"/>
            <a:ext cx="6800850" cy="1472565"/>
          </a:xfrm>
          <a:prstGeom prst="rect">
            <a:avLst/>
          </a:prstGeom>
          <a:noFill/>
        </p:spPr>
        <p:txBody>
          <a:bodyPr wrap="square" lIns="0" rIns="0" tIns="0" bIns="0" anchor="t">
            <a:spAutoFit/>
          </a:bodyPr>
          <a:lstStyle/>
          <a:p>
            <a:pPr algn="l">
              <a:lnSpc>
                <a:spcPct val="140000"/>
              </a:lnSpc>
              <a:spcBef>
                <a:spcPts val="0"/>
              </a:spcBef>
              <a:spcAft>
                <a:spcPts val="0"/>
              </a:spcAft>
              <a:defRPr sz="1950" b="0">
                <a:solidFill>
                  <a:srgbClr val="24231F"/>
                </a:solidFill>
                <a:latin typeface="Pretendard"/>
              </a:defRPr>
            </a:pPr>
            <a:r>
              <a:rPr lang="ko-KR">
                <a:ea typeface="Pretendard"/>
              </a:rPr>
              <a:t>AI: ‘정밀한 산업 장비’라는 제어판 디자인을 보여주는 단일 페이지</a:t>
            </a:r>
          </a:p>
          <a:p>
            <a:pPr algn="l">
              <a:lnSpc>
                <a:spcPct val="140000"/>
              </a:lnSpc>
              <a:spcBef>
                <a:spcPts val="0"/>
              </a:spcBef>
              <a:spcAft>
                <a:spcPts val="0"/>
              </a:spcAft>
              <a:defRPr sz="1950" b="0">
                <a:solidFill>
                  <a:srgbClr val="24231F"/>
                </a:solidFill>
                <a:latin typeface="Pretendard"/>
              </a:defRPr>
            </a:pPr>
            <a:r>
              <a:rPr lang="ko-KR">
                <a:ea typeface="Pretendard"/>
              </a:rPr>
              <a:t>개념 검증용 시제품을 만들어 주세요. 정교하게 설계된 전문 장비를</a:t>
            </a:r>
          </a:p>
          <a:p>
            <a:pPr algn="l">
              <a:lnSpc>
                <a:spcPct val="140000"/>
              </a:lnSpc>
              <a:spcBef>
                <a:spcPts val="0"/>
              </a:spcBef>
              <a:spcAft>
                <a:spcPts val="0"/>
              </a:spcAft>
              <a:defRPr sz="1950" b="0">
                <a:solidFill>
                  <a:srgbClr val="24231F"/>
                </a:solidFill>
                <a:latin typeface="Pretendard"/>
              </a:defRPr>
            </a:pPr>
            <a:r>
              <a:rPr lang="ko-KR">
                <a:ea typeface="Pretendard"/>
              </a:rPr>
              <a:t>조작하는 느낌이어야 합니다. 복고풍이나 만화풍으로 만들거나 실제</a:t>
            </a:r>
          </a:p>
          <a:p>
            <a:pPr algn="l">
              <a:lnSpc>
                <a:spcPct val="140000"/>
              </a:lnSpc>
              <a:spcBef>
                <a:spcPts val="0"/>
              </a:spcBef>
              <a:spcAft>
                <a:spcPts val="0"/>
              </a:spcAft>
              <a:defRPr sz="1950" b="0">
                <a:solidFill>
                  <a:srgbClr val="24231F"/>
                </a:solidFill>
                <a:latin typeface="Pretendard"/>
              </a:defRPr>
            </a:pPr>
            <a:r>
              <a:rPr lang="ko-KR">
                <a:ea typeface="Pretendard"/>
              </a:rPr>
              <a:t>제어판을 지나치게 그대로 모방하지 마세요.</a:t>
            </a:r>
          </a:p>
        </p:txBody>
      </p:sp>
      <p:sp>
        <p:nvSpPr>
          <p:cNvPr id="11" name="TextBox 10"/>
          <p:cNvSpPr txBox="1"/>
          <p:nvPr/>
        </p:nvSpPr>
        <p:spPr>
          <a:xfrm>
            <a:off x="10572750" y="6701790"/>
            <a:ext cx="6800850" cy="432435"/>
          </a:xfrm>
          <a:prstGeom prst="rect">
            <a:avLst/>
          </a:prstGeom>
          <a:noFill/>
        </p:spPr>
        <p:txBody>
          <a:bodyPr wrap="square" lIns="0" rIns="0" tIns="0" bIns="0" anchor="t">
            <a:spAutoFit/>
          </a:bodyPr>
          <a:lstStyle/>
          <a:p>
            <a:pPr algn="l">
              <a:lnSpc>
                <a:spcPct val="140000"/>
              </a:lnSpc>
              <a:spcBef>
                <a:spcPts val="0"/>
              </a:spcBef>
              <a:spcAft>
                <a:spcPts val="0"/>
              </a:spcAft>
              <a:defRPr sz="1950" b="0">
                <a:solidFill>
                  <a:srgbClr val="24231F"/>
                </a:solidFill>
                <a:latin typeface="Pretendard"/>
              </a:defRPr>
            </a:pPr>
            <a:r>
              <a:rPr lang="ko-KR">
                <a:ea typeface="Pretendard"/>
              </a:rPr>
              <a:t>다음 요소를 사용해 주세요.</a:t>
            </a:r>
          </a:p>
        </p:txBody>
      </p:sp>
      <p:sp>
        <p:nvSpPr>
          <p:cNvPr id="12" name="TextBox 11"/>
          <p:cNvSpPr txBox="1"/>
          <p:nvPr/>
        </p:nvSpPr>
        <p:spPr>
          <a:xfrm>
            <a:off x="10572750" y="7219950"/>
            <a:ext cx="6800850" cy="779145"/>
          </a:xfrm>
          <a:prstGeom prst="rect">
            <a:avLst/>
          </a:prstGeom>
          <a:noFill/>
        </p:spPr>
        <p:txBody>
          <a:bodyPr wrap="square" lIns="0" rIns="0" tIns="0" bIns="0" anchor="t">
            <a:spAutoFit/>
          </a:bodyPr>
          <a:lstStyle/>
          <a:p>
            <a:pPr algn="l">
              <a:lnSpc>
                <a:spcPct val="140000"/>
              </a:lnSpc>
              <a:spcBef>
                <a:spcPts val="0"/>
              </a:spcBef>
              <a:spcAft>
                <a:spcPts val="0"/>
              </a:spcAft>
              <a:defRPr sz="1950" b="0">
                <a:solidFill>
                  <a:srgbClr val="24231F"/>
                </a:solidFill>
                <a:latin typeface="Pretendard"/>
              </a:defRPr>
            </a:pPr>
            <a:r>
              <a:rPr lang="ko-KR">
                <a:ea typeface="Pretendard"/>
              </a:rPr>
              <a:t>분체 도장한 금속과 성형 가공한 장비에서 영감을 받아, 손으로 만질</a:t>
            </a:r>
          </a:p>
          <a:p>
            <a:pPr algn="l">
              <a:lnSpc>
                <a:spcPct val="140000"/>
              </a:lnSpc>
              <a:spcBef>
                <a:spcPts val="0"/>
              </a:spcBef>
              <a:spcAft>
                <a:spcPts val="0"/>
              </a:spcAft>
              <a:defRPr sz="1950" b="0">
                <a:solidFill>
                  <a:srgbClr val="24231F"/>
                </a:solidFill>
                <a:latin typeface="Pretendard"/>
              </a:defRPr>
            </a:pPr>
            <a:r>
              <a:rPr lang="ko-KR">
                <a:ea typeface="Pretendard"/>
              </a:rPr>
              <a:t>수 있을 것 같은 은은한 표면 질감을 표현해 주세요.</a:t>
            </a:r>
          </a:p>
        </p:txBody>
      </p:sp>
      <p:sp>
        <p:nvSpPr>
          <p:cNvPr id="13" name="TextBox 12"/>
          <p:cNvSpPr txBox="1"/>
          <p:nvPr/>
        </p:nvSpPr>
        <p:spPr>
          <a:xfrm>
            <a:off x="10572750" y="8084820"/>
            <a:ext cx="6800850" cy="432435"/>
          </a:xfrm>
          <a:prstGeom prst="rect">
            <a:avLst/>
          </a:prstGeom>
          <a:noFill/>
        </p:spPr>
        <p:txBody>
          <a:bodyPr wrap="square" lIns="0" rIns="0" tIns="0" bIns="0" anchor="t">
            <a:spAutoFit/>
          </a:bodyPr>
          <a:lstStyle/>
          <a:p>
            <a:pPr algn="l">
              <a:lnSpc>
                <a:spcPct val="140000"/>
              </a:lnSpc>
              <a:spcBef>
                <a:spcPts val="0"/>
              </a:spcBef>
              <a:spcAft>
                <a:spcPts val="0"/>
              </a:spcAft>
              <a:defRPr sz="1950" b="0">
                <a:solidFill>
                  <a:srgbClr val="24231F"/>
                </a:solidFill>
                <a:latin typeface="Pretendard"/>
              </a:defRPr>
            </a:pPr>
            <a:r>
              <a:rPr lang="ko-KR">
                <a:ea typeface="Pretendard"/>
              </a:rPr>
              <a:t>이하 생략</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15 / 39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03</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구현자와 디자인 평가자의 역할 분리</a:t>
            </a:r>
          </a:p>
        </p:txBody>
      </p:sp>
      <p:pic>
        <p:nvPicPr>
          <p:cNvPr id="4" name="figure-15-5e045d71-d5f7-436a-be1f-eb870df24062_1456x1861" descr="figure-15-5e045d71-d5f7-436a-be1f-eb870df24062_1456x1861.jpg"/>
          <p:cNvPicPr>
            <a:picLocks noChangeAspect="1"/>
          </p:cNvPicPr>
          <p:nvPr/>
        </p:nvPicPr>
        <p:blipFill>
          <a:blip r:embed="rId2"/>
          <a:srcRect b="72058"/>
          <a:stretch>
            <a:fillRect/>
          </a:stretch>
        </p:blipFill>
        <p:spPr>
          <a:xfrm>
            <a:off x="914400" y="2671082"/>
            <a:ext cx="16459200" cy="587828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별도 디자인 평가자는 구현 과정 대신 현재 화면의 품질만 판단한다.</a:t>
            </a:r>
          </a:p>
        </p:txBody>
      </p:sp>
      <p:sp>
        <p:nvSpPr>
          <p:cNvPr id="6" name="TextBox 5"/>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7" name="TextBox 6"/>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8" name="TextBox 7"/>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16 / 39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03</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평가자 프롬프트</a:t>
            </a:r>
          </a:p>
        </p:txBody>
      </p:sp>
      <p:sp>
        <p:nvSpPr>
          <p:cNvPr id="4" name="TextBox 3"/>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스크린샷만으로 평가하고, 같은 기준으로 수정과 평가를 반복한다.</a:t>
            </a:r>
          </a:p>
        </p:txBody>
      </p:sp>
      <p:sp>
        <p:nvSpPr>
          <p:cNvPr id="5" name="TextBox 4"/>
          <p:cNvSpPr txBox="1"/>
          <p:nvPr/>
        </p:nvSpPr>
        <p:spPr>
          <a:xfrm>
            <a:off x="914400" y="2619375"/>
            <a:ext cx="78486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 · 1/2</a:t>
            </a:r>
          </a:p>
        </p:txBody>
      </p:sp>
      <p:sp>
        <p:nvSpPr>
          <p:cNvPr id="6" name="TextBox 5"/>
          <p:cNvSpPr txBox="1"/>
          <p:nvPr/>
        </p:nvSpPr>
        <p:spPr>
          <a:xfrm>
            <a:off x="914400" y="3095625"/>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이 디자인을 개선해 주세요. 어디에 집중할지 판단할 수 있도록 Fable 5</a:t>
            </a:r>
          </a:p>
          <a:p>
            <a:pPr algn="l">
              <a:lnSpc>
                <a:spcPct val="140000"/>
              </a:lnSpc>
              <a:spcBef>
                <a:spcPts val="0"/>
              </a:spcBef>
              <a:spcAft>
                <a:spcPts val="0"/>
              </a:spcAft>
              <a:defRPr sz="2100" b="0">
                <a:solidFill>
                  <a:srgbClr val="24231F"/>
                </a:solidFill>
                <a:latin typeface="Pretendard"/>
              </a:defRPr>
            </a:pPr>
            <a:r>
              <a:rPr lang="ko-KR">
                <a:ea typeface="Pretendard"/>
              </a:rPr>
              <a:t>서브에이전트를 디자인 평가자로 사용해 주세요.</a:t>
            </a:r>
          </a:p>
        </p:txBody>
      </p:sp>
      <p:sp>
        <p:nvSpPr>
          <p:cNvPr id="7" name="TextBox 6"/>
          <p:cNvSpPr txBox="1"/>
          <p:nvPr/>
        </p:nvSpPr>
        <p:spPr>
          <a:xfrm>
            <a:off x="914400" y="4023359"/>
            <a:ext cx="78486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수정할 때마다 다음 절차를 따라주세요.</a:t>
            </a:r>
          </a:p>
        </p:txBody>
      </p:sp>
      <p:sp>
        <p:nvSpPr>
          <p:cNvPr id="8" name="TextBox 7"/>
          <p:cNvSpPr txBox="1"/>
          <p:nvPr/>
        </p:nvSpPr>
        <p:spPr>
          <a:xfrm>
            <a:off x="914400" y="4577715"/>
            <a:ext cx="78486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현재 디자인의 스크린샷을 찍어주세요.</a:t>
            </a:r>
          </a:p>
        </p:txBody>
      </p:sp>
      <p:sp>
        <p:nvSpPr>
          <p:cNvPr id="9" name="TextBox 8"/>
          <p:cNvSpPr txBox="1"/>
          <p:nvPr/>
        </p:nvSpPr>
        <p:spPr>
          <a:xfrm>
            <a:off x="914400" y="5132070"/>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새 대화 맥락에서 평가자를 호출하고 스크린샷만 전달해 주세요. 코드나</a:t>
            </a:r>
          </a:p>
          <a:p>
            <a:pPr algn="l">
              <a:lnSpc>
                <a:spcPct val="140000"/>
              </a:lnSpc>
              <a:spcBef>
                <a:spcPts val="0"/>
              </a:spcBef>
              <a:spcAft>
                <a:spcPts val="0"/>
              </a:spcAft>
              <a:defRPr sz="2100" b="0">
                <a:solidFill>
                  <a:srgbClr val="24231F"/>
                </a:solidFill>
                <a:latin typeface="Pretendard"/>
              </a:defRPr>
            </a:pPr>
            <a:r>
              <a:rPr lang="ko-KR">
                <a:ea typeface="Pretendard"/>
              </a:rPr>
              <a:t>구현 세부 정보, 이전 수정본이나 평가 내용은 전달하지 마세요.</a:t>
            </a:r>
          </a:p>
        </p:txBody>
      </p:sp>
      <p:sp>
        <p:nvSpPr>
          <p:cNvPr id="10" name="TextBox 9"/>
          <p:cNvSpPr txBox="1"/>
          <p:nvPr/>
        </p:nvSpPr>
        <p:spPr>
          <a:xfrm>
            <a:off x="914400" y="6059805"/>
            <a:ext cx="784860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이 디자인이 추구하는 스타일을 평가하고, 최고 수준의 디자인</a:t>
            </a:r>
          </a:p>
          <a:p>
            <a:pPr algn="l">
              <a:lnSpc>
                <a:spcPct val="140000"/>
              </a:lnSpc>
              <a:spcBef>
                <a:spcPts val="0"/>
              </a:spcBef>
              <a:spcAft>
                <a:spcPts val="0"/>
              </a:spcAft>
              <a:defRPr sz="2100" b="0">
                <a:solidFill>
                  <a:srgbClr val="24231F"/>
                </a:solidFill>
                <a:latin typeface="Pretendard"/>
              </a:defRPr>
            </a:pPr>
            <a:r>
              <a:rPr lang="ko-KR">
                <a:ea typeface="Pretendard"/>
              </a:rPr>
              <a:t>스튜디오라면 그 스타일을 어떻게 구현할지 상상한 뒤, 현재 디자인에서</a:t>
            </a:r>
          </a:p>
          <a:p>
            <a:pPr algn="l">
              <a:lnSpc>
                <a:spcPct val="140000"/>
              </a:lnSpc>
              <a:spcBef>
                <a:spcPts val="0"/>
              </a:spcBef>
              <a:spcAft>
                <a:spcPts val="0"/>
              </a:spcAft>
              <a:defRPr sz="2100" b="0">
                <a:solidFill>
                  <a:srgbClr val="24231F"/>
                </a:solidFill>
                <a:latin typeface="Pretendard"/>
              </a:defRPr>
            </a:pPr>
            <a:r>
              <a:rPr lang="ko-KR">
                <a:ea typeface="Pretendard"/>
              </a:rPr>
              <a:t>가장 부족한 부분을 짚어달라고 해 주세요.</a:t>
            </a:r>
          </a:p>
        </p:txBody>
      </p:sp>
      <p:sp>
        <p:nvSpPr>
          <p:cNvPr id="11" name="TextBox 10"/>
          <p:cNvSpPr txBox="1"/>
          <p:nvPr/>
        </p:nvSpPr>
        <p:spPr>
          <a:xfrm>
            <a:off x="914400" y="7360919"/>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마지막으로 현재 디자인이 그 스튜디오 수준의 품질에 얼마나 가까운지</a:t>
            </a:r>
          </a:p>
          <a:p>
            <a:pPr algn="l">
              <a:lnSpc>
                <a:spcPct val="140000"/>
              </a:lnSpc>
              <a:spcBef>
                <a:spcPts val="0"/>
              </a:spcBef>
              <a:spcAft>
                <a:spcPts val="0"/>
              </a:spcAft>
              <a:defRPr sz="2100" b="0">
                <a:solidFill>
                  <a:srgbClr val="24231F"/>
                </a:solidFill>
                <a:latin typeface="Pretendard"/>
              </a:defRPr>
            </a:pPr>
            <a:r>
              <a:rPr lang="ko-KR">
                <a:ea typeface="Pretendard"/>
              </a:rPr>
              <a:t>10점 만점으로 평가하게 해 주세요.</a:t>
            </a:r>
          </a:p>
        </p:txBody>
      </p:sp>
      <p:sp>
        <p:nvSpPr>
          <p:cNvPr id="12" name="TextBox 11"/>
          <p:cNvSpPr txBox="1"/>
          <p:nvPr/>
        </p:nvSpPr>
        <p:spPr>
          <a:xfrm>
            <a:off x="9525000" y="2619375"/>
            <a:ext cx="78486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 · 2/2</a:t>
            </a:r>
          </a:p>
        </p:txBody>
      </p:sp>
      <p:sp>
        <p:nvSpPr>
          <p:cNvPr id="13" name="TextBox 12"/>
          <p:cNvSpPr txBox="1"/>
          <p:nvPr/>
        </p:nvSpPr>
        <p:spPr>
          <a:xfrm>
            <a:off x="9525000" y="3095625"/>
            <a:ext cx="78486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평가자에게 보내는 프롬프트에는 다음 지침을 넣어주세요.</a:t>
            </a:r>
          </a:p>
        </p:txBody>
      </p:sp>
      <p:sp>
        <p:nvSpPr>
          <p:cNvPr id="14" name="TextBox 13"/>
          <p:cNvSpPr txBox="1"/>
          <p:nvPr/>
        </p:nvSpPr>
        <p:spPr>
          <a:xfrm>
            <a:off x="9525000" y="3649980"/>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전체 구조와 구성을 넓은 관점에서 살피고, 작은 부분까지 확인해</a:t>
            </a:r>
          </a:p>
          <a:p>
            <a:pPr algn="l">
              <a:lnSpc>
                <a:spcPct val="140000"/>
              </a:lnSpc>
              <a:spcBef>
                <a:spcPts val="0"/>
              </a:spcBef>
              <a:spcAft>
                <a:spcPts val="0"/>
              </a:spcAft>
              <a:defRPr sz="2100" b="0">
                <a:solidFill>
                  <a:srgbClr val="24231F"/>
                </a:solidFill>
                <a:latin typeface="Pretendard"/>
              </a:defRPr>
            </a:pPr>
            <a:r>
              <a:rPr lang="ko-KR">
                <a:ea typeface="Pretendard"/>
              </a:rPr>
              <a:t>주세요.</a:t>
            </a:r>
          </a:p>
        </p:txBody>
      </p:sp>
      <p:sp>
        <p:nvSpPr>
          <p:cNvPr id="15" name="TextBox 14"/>
          <p:cNvSpPr txBox="1"/>
          <p:nvPr/>
        </p:nvSpPr>
        <p:spPr>
          <a:xfrm>
            <a:off x="9525000" y="4577715"/>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너무 자주 쓰이거나 과한 표현, 그 밖에 AI가 만든 티가 뚜렷하게 나는</a:t>
            </a:r>
          </a:p>
          <a:p>
            <a:pPr algn="l">
              <a:lnSpc>
                <a:spcPct val="140000"/>
              </a:lnSpc>
              <a:spcBef>
                <a:spcPts val="0"/>
              </a:spcBef>
              <a:spcAft>
                <a:spcPts val="0"/>
              </a:spcAft>
              <a:defRPr sz="2100" b="0">
                <a:solidFill>
                  <a:srgbClr val="24231F"/>
                </a:solidFill>
                <a:latin typeface="Pretendard"/>
              </a:defRPr>
            </a:pPr>
            <a:r>
              <a:rPr lang="ko-KR">
                <a:ea typeface="Pretendard"/>
              </a:rPr>
              <a:t>패턴을 찾아 감점해 주세요.</a:t>
            </a:r>
          </a:p>
        </p:txBody>
      </p:sp>
      <p:sp>
        <p:nvSpPr>
          <p:cNvPr id="16" name="TextBox 15"/>
          <p:cNvSpPr txBox="1"/>
          <p:nvPr/>
        </p:nvSpPr>
        <p:spPr>
          <a:xfrm>
            <a:off x="9525000" y="5505450"/>
            <a:ext cx="78486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모호하게 설명하지 말고, 짧고 구체적인 의견을 제시해 주세요.</a:t>
            </a:r>
          </a:p>
        </p:txBody>
      </p:sp>
      <p:sp>
        <p:nvSpPr>
          <p:cNvPr id="17" name="TextBox 16"/>
          <p:cNvSpPr txBox="1"/>
          <p:nvPr/>
        </p:nvSpPr>
        <p:spPr>
          <a:xfrm>
            <a:off x="9525000" y="6059805"/>
            <a:ext cx="78486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안전하거나 쉬운 선택에만 기대지 말고, 과감하고 분명하게 판단해</a:t>
            </a:r>
          </a:p>
          <a:p>
            <a:pPr algn="l">
              <a:lnSpc>
                <a:spcPct val="140000"/>
              </a:lnSpc>
              <a:spcBef>
                <a:spcPts val="0"/>
              </a:spcBef>
              <a:spcAft>
                <a:spcPts val="0"/>
              </a:spcAft>
              <a:defRPr sz="2100" b="0">
                <a:solidFill>
                  <a:srgbClr val="24231F"/>
                </a:solidFill>
                <a:latin typeface="Pretendard"/>
              </a:defRPr>
            </a:pPr>
            <a:r>
              <a:rPr lang="ko-KR">
                <a:ea typeface="Pretendard"/>
              </a:rPr>
              <a:t>주세요.</a:t>
            </a:r>
          </a:p>
        </p:txBody>
      </p:sp>
      <p:sp>
        <p:nvSpPr>
          <p:cNvPr id="18" name="TextBox 17"/>
          <p:cNvSpPr txBox="1"/>
          <p:nvPr/>
        </p:nvSpPr>
        <p:spPr>
          <a:xfrm>
            <a:off x="9525000" y="6987540"/>
            <a:ext cx="784860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평가자가 독립적으로 10점 만점에 9점 이상이라고 판단해야 작업이</a:t>
            </a:r>
          </a:p>
          <a:p>
            <a:pPr algn="l">
              <a:lnSpc>
                <a:spcPct val="140000"/>
              </a:lnSpc>
              <a:spcBef>
                <a:spcPts val="0"/>
              </a:spcBef>
              <a:spcAft>
                <a:spcPts val="0"/>
              </a:spcAft>
              <a:defRPr sz="2100" b="0">
                <a:solidFill>
                  <a:srgbClr val="24231F"/>
                </a:solidFill>
                <a:latin typeface="Pretendard"/>
              </a:defRPr>
            </a:pPr>
            <a:r>
              <a:rPr lang="ko-KR">
                <a:ea typeface="Pretendard"/>
              </a:rPr>
              <a:t>끝납니다. 평가자가 객관적으로 점수를 매길 수 있도록 이 종료 기준은</a:t>
            </a:r>
          </a:p>
          <a:p>
            <a:pPr algn="l">
              <a:lnSpc>
                <a:spcPct val="140000"/>
              </a:lnSpc>
              <a:spcBef>
                <a:spcPts val="0"/>
              </a:spcBef>
              <a:spcAft>
                <a:spcPts val="0"/>
              </a:spcAft>
              <a:defRPr sz="2100" b="0">
                <a:solidFill>
                  <a:srgbClr val="24231F"/>
                </a:solidFill>
                <a:latin typeface="Pretendard"/>
              </a:defRPr>
            </a:pPr>
            <a:r>
              <a:rPr lang="ko-KR">
                <a:ea typeface="Pretendard"/>
              </a:rPr>
              <a:t>평가자에게 보내는 프롬프트에 넣지 마세요. 평가자에게는 매번 같은</a:t>
            </a:r>
          </a:p>
          <a:p>
            <a:pPr algn="l">
              <a:lnSpc>
                <a:spcPct val="140000"/>
              </a:lnSpc>
              <a:spcBef>
                <a:spcPts val="0"/>
              </a:spcBef>
              <a:spcAft>
                <a:spcPts val="0"/>
              </a:spcAft>
              <a:defRPr sz="2100" b="0">
                <a:solidFill>
                  <a:srgbClr val="24231F"/>
                </a:solidFill>
                <a:latin typeface="Pretendard"/>
              </a:defRPr>
            </a:pPr>
            <a:r>
              <a:rPr lang="ko-KR">
                <a:ea typeface="Pretendard"/>
              </a:rPr>
              <a:t>프롬프트를 사용해 주세요.</a:t>
            </a:r>
          </a:p>
        </p:txBody>
      </p:sp>
      <p:sp>
        <p:nvSpPr>
          <p:cNvPr id="19" name="TextBox 18"/>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20" name="TextBox 19"/>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21" name="TextBox 20"/>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17 / 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03</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반복 평가와 디자인 정체성</a:t>
            </a:r>
          </a:p>
        </p:txBody>
      </p:sp>
      <p:pic>
        <p:nvPicPr>
          <p:cNvPr id="4" name="figure-15-5e045d71-d5f7-436a-be1f-eb870df24062_1456x1861" descr="figure-15-5e045d71-d5f7-436a-be1f-eb870df24062_1456x1861.jpg"/>
          <p:cNvPicPr>
            <a:picLocks noChangeAspect="1"/>
          </p:cNvPicPr>
          <p:nvPr/>
        </p:nvPicPr>
        <p:blipFill>
          <a:blip r:embed="rId2"/>
          <a:srcRect t="52337" b="25900"/>
          <a:stretch>
            <a:fillRect/>
          </a:stretch>
        </p:blipFill>
        <p:spPr>
          <a:xfrm>
            <a:off x="914400" y="2659097"/>
            <a:ext cx="16459200" cy="4578280"/>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같은 기준으로 평가와 수정을 반복해 처음의 스타일을 살리면서 개성을 더한다.</a:t>
            </a:r>
          </a:p>
        </p:txBody>
      </p:sp>
      <p:sp>
        <p:nvSpPr>
          <p:cNvPr id="6" name="TextBox 5"/>
          <p:cNvSpPr txBox="1"/>
          <p:nvPr/>
        </p:nvSpPr>
        <p:spPr>
          <a:xfrm>
            <a:off x="914400" y="7905750"/>
            <a:ext cx="164592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평가 후의 변화</a:t>
            </a:r>
          </a:p>
        </p:txBody>
      </p:sp>
      <p:sp>
        <p:nvSpPr>
          <p:cNvPr id="7" name="TextBox 6"/>
          <p:cNvSpPr txBox="1"/>
          <p:nvPr/>
        </p:nvSpPr>
        <p:spPr>
          <a:xfrm>
            <a:off x="914400" y="8381999"/>
            <a:ext cx="164592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똑같은 틀을 반복하던 디자인들이 이제 저마다 개성을 갖게 됐습니다. 그러면서도 처음에 의도한 전체적인 스타일은 유지합니다.</a:t>
            </a:r>
          </a:p>
        </p:txBody>
      </p:sp>
      <p:sp>
        <p:nvSpPr>
          <p:cNvPr id="8" name="TextBox 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9" name="TextBox 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0" name="TextBox 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18 /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03</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평가 기준의 구체화</a:t>
            </a:r>
          </a:p>
        </p:txBody>
      </p:sp>
      <p:sp>
        <p:nvSpPr>
          <p:cNvPr id="4" name="TextBox 3"/>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눈으로 비교할 수 있는 예시와 명확한 품질 기준으로 평가한다.</a:t>
            </a:r>
          </a:p>
        </p:txBody>
      </p:sp>
      <p:sp>
        <p:nvSpPr>
          <p:cNvPr id="5" name="TextBox 4"/>
          <p:cNvSpPr txBox="1"/>
          <p:nvPr/>
        </p:nvSpPr>
        <p:spPr>
          <a:xfrm>
            <a:off x="914400" y="2857500"/>
            <a:ext cx="4953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나쁜 예</a:t>
            </a:r>
          </a:p>
        </p:txBody>
      </p:sp>
      <p:sp>
        <p:nvSpPr>
          <p:cNvPr id="6" name="TextBox 5"/>
          <p:cNvSpPr txBox="1"/>
          <p:nvPr/>
        </p:nvSpPr>
        <p:spPr>
          <a:xfrm>
            <a:off x="914400" y="3333750"/>
            <a:ext cx="4953000" cy="8858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디자인이 AI가 만든 것처럼 보이지 않고</a:t>
            </a:r>
          </a:p>
          <a:p>
            <a:pPr algn="l">
              <a:lnSpc>
                <a:spcPct val="140000"/>
              </a:lnSpc>
              <a:spcBef>
                <a:spcPts val="0"/>
              </a:spcBef>
              <a:spcAft>
                <a:spcPts val="0"/>
              </a:spcAft>
              <a:defRPr sz="2250" b="0">
                <a:solidFill>
                  <a:srgbClr val="24231F"/>
                </a:solidFill>
                <a:latin typeface="Pretendard"/>
              </a:defRPr>
            </a:pPr>
            <a:r>
              <a:rPr lang="ko-KR">
                <a:ea typeface="Pretendard"/>
              </a:rPr>
              <a:t>아름다운지 판단해 주세요.</a:t>
            </a:r>
          </a:p>
        </p:txBody>
      </p:sp>
      <p:sp>
        <p:nvSpPr>
          <p:cNvPr id="7" name="TextBox 6"/>
          <p:cNvSpPr txBox="1"/>
          <p:nvPr/>
        </p:nvSpPr>
        <p:spPr>
          <a:xfrm>
            <a:off x="6667500" y="2857500"/>
            <a:ext cx="4953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괜찮은 예</a:t>
            </a:r>
          </a:p>
        </p:txBody>
      </p:sp>
      <p:sp>
        <p:nvSpPr>
          <p:cNvPr id="8" name="TextBox 7"/>
          <p:cNvSpPr txBox="1"/>
          <p:nvPr/>
        </p:nvSpPr>
        <p:spPr>
          <a:xfrm>
            <a:off x="6667500" y="3333750"/>
            <a:ext cx="4953000" cy="16859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우리가 추구하는 스타일을 살펴보고, 최고</a:t>
            </a:r>
          </a:p>
          <a:p>
            <a:pPr algn="l">
              <a:lnSpc>
                <a:spcPct val="140000"/>
              </a:lnSpc>
              <a:spcBef>
                <a:spcPts val="0"/>
              </a:spcBef>
              <a:spcAft>
                <a:spcPts val="0"/>
              </a:spcAft>
              <a:defRPr sz="2250" b="0">
                <a:solidFill>
                  <a:srgbClr val="24231F"/>
                </a:solidFill>
                <a:latin typeface="Pretendard"/>
              </a:defRPr>
            </a:pPr>
            <a:r>
              <a:rPr lang="ko-KR">
                <a:ea typeface="Pretendard"/>
              </a:rPr>
              <a:t>수준의 디자인 스튜디오라면 어떻게</a:t>
            </a:r>
          </a:p>
          <a:p>
            <a:pPr algn="l">
              <a:lnSpc>
                <a:spcPct val="140000"/>
              </a:lnSpc>
              <a:spcBef>
                <a:spcPts val="0"/>
              </a:spcBef>
              <a:spcAft>
                <a:spcPts val="0"/>
              </a:spcAft>
              <a:defRPr sz="2250" b="0">
                <a:solidFill>
                  <a:srgbClr val="24231F"/>
                </a:solidFill>
                <a:latin typeface="Pretendard"/>
              </a:defRPr>
            </a:pPr>
            <a:r>
              <a:rPr lang="ko-KR">
                <a:ea typeface="Pretendard"/>
              </a:rPr>
              <a:t>구현할지 떠올린 다음, 그 기준으로 우리</a:t>
            </a:r>
          </a:p>
          <a:p>
            <a:pPr algn="l">
              <a:lnSpc>
                <a:spcPct val="140000"/>
              </a:lnSpc>
              <a:spcBef>
                <a:spcPts val="0"/>
              </a:spcBef>
              <a:spcAft>
                <a:spcPts val="0"/>
              </a:spcAft>
              <a:defRPr sz="2250" b="0">
                <a:solidFill>
                  <a:srgbClr val="24231F"/>
                </a:solidFill>
                <a:latin typeface="Pretendard"/>
              </a:defRPr>
            </a:pPr>
            <a:r>
              <a:rPr lang="ko-KR">
                <a:ea typeface="Pretendard"/>
              </a:rPr>
              <a:t>디자인의 품질을 평가해 주세요.</a:t>
            </a:r>
          </a:p>
        </p:txBody>
      </p:sp>
      <p:sp>
        <p:nvSpPr>
          <p:cNvPr id="9" name="TextBox 8"/>
          <p:cNvSpPr txBox="1"/>
          <p:nvPr/>
        </p:nvSpPr>
        <p:spPr>
          <a:xfrm>
            <a:off x="12420600" y="2857500"/>
            <a:ext cx="4953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좋은 예</a:t>
            </a:r>
          </a:p>
        </p:txBody>
      </p:sp>
      <p:sp>
        <p:nvSpPr>
          <p:cNvPr id="10" name="TextBox 9"/>
          <p:cNvSpPr txBox="1"/>
          <p:nvPr/>
        </p:nvSpPr>
        <p:spPr>
          <a:xfrm>
            <a:off x="12420600" y="3333750"/>
            <a:ext cx="4953000" cy="16859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디자인 5개를 보여드리겠습니다. 4개는</a:t>
            </a:r>
          </a:p>
          <a:p>
            <a:pPr algn="l">
              <a:lnSpc>
                <a:spcPct val="140000"/>
              </a:lnSpc>
              <a:spcBef>
                <a:spcPts val="0"/>
              </a:spcBef>
              <a:spcAft>
                <a:spcPts val="0"/>
              </a:spcAft>
              <a:defRPr sz="2250" b="0">
                <a:solidFill>
                  <a:srgbClr val="24231F"/>
                </a:solidFill>
                <a:latin typeface="Pretendard"/>
              </a:defRPr>
            </a:pPr>
            <a:r>
              <a:rPr lang="ko-KR">
                <a:ea typeface="Pretendard"/>
              </a:rPr>
              <a:t>전문가가 만든 사례이고, 1개는 우리</a:t>
            </a:r>
          </a:p>
          <a:p>
            <a:pPr algn="l">
              <a:lnSpc>
                <a:spcPct val="140000"/>
              </a:lnSpc>
              <a:spcBef>
                <a:spcPts val="0"/>
              </a:spcBef>
              <a:spcAft>
                <a:spcPts val="0"/>
              </a:spcAft>
              <a:defRPr sz="2250" b="0">
                <a:solidFill>
                  <a:srgbClr val="24231F"/>
                </a:solidFill>
                <a:latin typeface="Pretendard"/>
              </a:defRPr>
            </a:pPr>
            <a:r>
              <a:rPr lang="ko-KR">
                <a:ea typeface="Pretendard"/>
              </a:rPr>
              <a:t>제품의 스크린샷입니다. 완성도와 디자인</a:t>
            </a:r>
          </a:p>
          <a:p>
            <a:pPr algn="l">
              <a:lnSpc>
                <a:spcPct val="140000"/>
              </a:lnSpc>
              <a:spcBef>
                <a:spcPts val="0"/>
              </a:spcBef>
              <a:spcAft>
                <a:spcPts val="0"/>
              </a:spcAft>
              <a:defRPr sz="2250" b="0">
                <a:solidFill>
                  <a:srgbClr val="24231F"/>
                </a:solidFill>
                <a:latin typeface="Pretendard"/>
              </a:defRPr>
            </a:pPr>
            <a:r>
              <a:rPr lang="ko-KR">
                <a:ea typeface="Pretendard"/>
              </a:rPr>
              <a:t>감각을 기준으로 순위를 매겨주세요.</a:t>
            </a:r>
          </a:p>
        </p:txBody>
      </p:sp>
      <p:sp>
        <p:nvSpPr>
          <p:cNvPr id="11" name="TextBox 10"/>
          <p:cNvSpPr txBox="1"/>
          <p:nvPr/>
        </p:nvSpPr>
        <p:spPr>
          <a:xfrm>
            <a:off x="914400" y="7286625"/>
            <a:ext cx="164592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반복 종료 기준</a:t>
            </a:r>
          </a:p>
        </p:txBody>
      </p:sp>
      <p:sp>
        <p:nvSpPr>
          <p:cNvPr id="12" name="TextBox 11"/>
          <p:cNvSpPr txBox="1"/>
          <p:nvPr/>
        </p:nvSpPr>
        <p:spPr>
          <a:xfrm>
            <a:off x="914400" y="7762875"/>
            <a:ext cx="1645920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반복을 끝낼 기준을 신중하게 정하세요. 그렇지 않으면 평가자는 디자인이 충분히 좋다고 끝내 인정하지 않을 수 있습니다. 그러면 에이전트는 평가자를</a:t>
            </a:r>
          </a:p>
          <a:p>
            <a:pPr algn="l">
              <a:lnSpc>
                <a:spcPct val="140000"/>
              </a:lnSpc>
              <a:spcBef>
                <a:spcPts val="0"/>
              </a:spcBef>
              <a:spcAft>
                <a:spcPts val="0"/>
              </a:spcAft>
              <a:defRPr sz="2100" b="0">
                <a:solidFill>
                  <a:srgbClr val="24231F"/>
                </a:solidFill>
                <a:latin typeface="Pretendard"/>
              </a:defRPr>
            </a:pPr>
            <a:r>
              <a:rPr lang="ko-KR">
                <a:ea typeface="Pretendard"/>
              </a:rPr>
              <a:t>만족시키려고 토큰만 계속 소모하게 됩니다. 우선 한두 번만 수정하도록 요청하고, 목표에 가까워지는지 확인한 뒤 더 진행하세요.</a:t>
            </a:r>
          </a:p>
        </p:txBody>
      </p:sp>
      <p:sp>
        <p:nvSpPr>
          <p:cNvPr id="13" name="TextBox 12"/>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4" name="TextBox 13"/>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5" name="TextBox 14"/>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19 /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04</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생성 이미지의 시각적 효과</a:t>
            </a:r>
          </a:p>
        </p:txBody>
      </p:sp>
      <p:sp>
        <p:nvSpPr>
          <p:cNvPr id="4" name="Rectangle 3"/>
          <p:cNvSpPr/>
          <p:nvPr/>
        </p:nvSpPr>
        <p:spPr>
          <a:xfrm>
            <a:off x="11315700" y="2333625"/>
            <a:ext cx="6972300" cy="7143750"/>
          </a:xfrm>
          <a:prstGeom prst="rect">
            <a:avLst/>
          </a:prstGeom>
          <a:solidFill>
            <a:srgbClr val="1414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figure-16-7e2a6925-7451-4abe-aaa8-bc92823dd69a_1456x399" descr="figure-16.png"/>
          <p:cNvPicPr>
            <a:picLocks noChangeAspect="1"/>
          </p:cNvPicPr>
          <p:nvPr/>
        </p:nvPicPr>
        <p:blipFill>
          <a:blip r:embed="rId2"/>
          <a:srcRect/>
          <a:stretch>
            <a:fillRect/>
          </a:stretch>
        </p:blipFill>
        <p:spPr>
          <a:xfrm>
            <a:off x="914400" y="2562408"/>
            <a:ext cx="10287000" cy="2819033"/>
          </a:xfrm>
          <a:prstGeom prst="rect">
            <a:avLst/>
          </a:prstGeom>
        </p:spPr>
      </p:pic>
      <p:pic>
        <p:nvPicPr>
          <p:cNvPr id="6" name="figure-17-f4ae7b09-1555-4ade-850c-212cb0d089b2_1456x399" descr="figure-17.png"/>
          <p:cNvPicPr>
            <a:picLocks noChangeAspect="1"/>
          </p:cNvPicPr>
          <p:nvPr/>
        </p:nvPicPr>
        <p:blipFill>
          <a:blip r:embed="rId3"/>
          <a:srcRect/>
          <a:stretch>
            <a:fillRect/>
          </a:stretch>
        </p:blipFill>
        <p:spPr>
          <a:xfrm>
            <a:off x="914400" y="5953308"/>
            <a:ext cx="10287000" cy="2819033"/>
          </a:xfrm>
          <a:prstGeom prst="rect">
            <a:avLst/>
          </a:prstGeom>
        </p:spPr>
      </p:pic>
      <p:sp>
        <p:nvSpPr>
          <p:cNvPr id="7" name="TextBox 6"/>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생성 이미지와 셰이더 또는 3D 효과를 함께 써 디자인에 개성을 더한다.</a:t>
            </a:r>
          </a:p>
        </p:txBody>
      </p:sp>
      <p:sp>
        <p:nvSpPr>
          <p:cNvPr id="8" name="TextBox 7"/>
          <p:cNvSpPr txBox="1"/>
          <p:nvPr/>
        </p:nvSpPr>
        <p:spPr>
          <a:xfrm>
            <a:off x="11715750" y="2724150"/>
            <a:ext cx="5657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프롬프트 전문</a:t>
            </a:r>
          </a:p>
        </p:txBody>
      </p:sp>
      <p:sp>
        <p:nvSpPr>
          <p:cNvPr id="9" name="TextBox 8"/>
          <p:cNvSpPr txBox="1"/>
          <p:nvPr/>
        </p:nvSpPr>
        <p:spPr>
          <a:xfrm>
            <a:off x="11715750" y="3200400"/>
            <a:ext cx="5657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디자인이 꽤 밋밋합니다. 이미지 생성을 활용해</a:t>
            </a:r>
          </a:p>
          <a:p>
            <a:pPr algn="l">
              <a:lnSpc>
                <a:spcPct val="140000"/>
              </a:lnSpc>
              <a:spcBef>
                <a:spcPts val="0"/>
              </a:spcBef>
              <a:spcAft>
                <a:spcPts val="0"/>
              </a:spcAft>
              <a:defRPr sz="2100" b="0">
                <a:solidFill>
                  <a:srgbClr val="F6EFE2"/>
                </a:solidFill>
                <a:latin typeface="Pretendard"/>
              </a:defRPr>
            </a:pPr>
            <a:r>
              <a:rPr lang="ko-KR">
                <a:ea typeface="Pretendard"/>
              </a:rPr>
              <a:t>개성을 더해 주세요. 이미지와 셰이더 또는 3D</a:t>
            </a:r>
          </a:p>
          <a:p>
            <a:pPr algn="l">
              <a:lnSpc>
                <a:spcPct val="140000"/>
              </a:lnSpc>
              <a:spcBef>
                <a:spcPts val="0"/>
              </a:spcBef>
              <a:spcAft>
                <a:spcPts val="0"/>
              </a:spcAft>
              <a:defRPr sz="2100" b="0">
                <a:solidFill>
                  <a:srgbClr val="F6EFE2"/>
                </a:solidFill>
                <a:latin typeface="Pretendard"/>
              </a:defRPr>
            </a:pPr>
            <a:r>
              <a:rPr lang="ko-KR">
                <a:ea typeface="Pretendard"/>
              </a:rPr>
              <a:t>효과를 함께 사용해 시각적으로 더 흥미롭게 만드는</a:t>
            </a:r>
          </a:p>
          <a:p>
            <a:pPr algn="l">
              <a:lnSpc>
                <a:spcPct val="140000"/>
              </a:lnSpc>
              <a:spcBef>
                <a:spcPts val="0"/>
              </a:spcBef>
              <a:spcAft>
                <a:spcPts val="0"/>
              </a:spcAft>
              <a:defRPr sz="2100" b="0">
                <a:solidFill>
                  <a:srgbClr val="F6EFE2"/>
                </a:solidFill>
                <a:latin typeface="Pretendard"/>
              </a:defRPr>
            </a:pPr>
            <a:r>
              <a:rPr lang="ko-KR">
                <a:ea typeface="Pretendard"/>
              </a:rPr>
              <a:t>방법도 고려해 주세요.</a:t>
            </a:r>
          </a:p>
        </p:txBody>
      </p:sp>
      <p:sp>
        <p:nvSpPr>
          <p:cNvPr id="10" name="TextBox 9"/>
          <p:cNvSpPr txBox="1"/>
          <p:nvPr/>
        </p:nvSpPr>
        <p:spPr>
          <a:xfrm>
            <a:off x="11715750" y="4893945"/>
            <a:ext cx="565785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이미지 생성에는 이 OpenAI API 키를 사용해</a:t>
            </a:r>
          </a:p>
          <a:p>
            <a:pPr algn="l">
              <a:lnSpc>
                <a:spcPct val="140000"/>
              </a:lnSpc>
              <a:spcBef>
                <a:spcPts val="0"/>
              </a:spcBef>
              <a:spcAft>
                <a:spcPts val="0"/>
              </a:spcAft>
              <a:defRPr sz="2100" b="0">
                <a:solidFill>
                  <a:srgbClr val="F6EFE2"/>
                </a:solidFill>
                <a:latin typeface="Pretendard"/>
              </a:defRPr>
            </a:pPr>
            <a:r>
              <a:rPr lang="ko-KR">
                <a:ea typeface="Pretendard"/>
              </a:rPr>
              <a:t>주세요. 로컬에서만 사용하고 코드나 제품에는</a:t>
            </a:r>
          </a:p>
          <a:p>
            <a:pPr algn="l">
              <a:lnSpc>
                <a:spcPct val="140000"/>
              </a:lnSpc>
              <a:spcBef>
                <a:spcPts val="0"/>
              </a:spcBef>
              <a:spcAft>
                <a:spcPts val="0"/>
              </a:spcAft>
              <a:defRPr sz="2100" b="0">
                <a:solidFill>
                  <a:srgbClr val="F6EFE2"/>
                </a:solidFill>
                <a:latin typeface="Pretendard"/>
              </a:defRPr>
            </a:pPr>
            <a:r>
              <a:rPr lang="ko-KR">
                <a:ea typeface="Pretendard"/>
              </a:rPr>
              <a:t>저장하지 마세요: sk-a1b2c3d4…</a:t>
            </a:r>
          </a:p>
        </p:txBody>
      </p:sp>
      <p:sp>
        <p:nvSpPr>
          <p:cNvPr id="11" name="TextBox 10"/>
          <p:cNvSpPr txBox="1"/>
          <p:nvPr/>
        </p:nvSpPr>
        <p:spPr>
          <a:xfrm>
            <a:off x="11715750" y="6214110"/>
            <a:ext cx="5657850"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F6EFE2"/>
                </a:solidFill>
                <a:latin typeface="Pretendard"/>
              </a:defRPr>
            </a:pPr>
            <a:r>
              <a:rPr lang="ko-KR">
                <a:ea typeface="Pretendard"/>
              </a:rPr>
              <a:t>작업 결과가 제대로 보이는지 브라우저에서</a:t>
            </a:r>
          </a:p>
          <a:p>
            <a:pPr algn="l">
              <a:lnSpc>
                <a:spcPct val="140000"/>
              </a:lnSpc>
              <a:spcBef>
                <a:spcPts val="0"/>
              </a:spcBef>
              <a:spcAft>
                <a:spcPts val="0"/>
              </a:spcAft>
              <a:defRPr sz="2100" b="0">
                <a:solidFill>
                  <a:srgbClr val="F6EFE2"/>
                </a:solidFill>
                <a:latin typeface="Pretendard"/>
              </a:defRPr>
            </a:pPr>
            <a:r>
              <a:rPr lang="ko-KR">
                <a:ea typeface="Pretendard"/>
              </a:rPr>
              <a:t>프레임별로 확인해 주세요.</a:t>
            </a:r>
          </a:p>
        </p:txBody>
      </p:sp>
      <p:sp>
        <p:nvSpPr>
          <p:cNvPr id="12" name="TextBox 11"/>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3" name="TextBox 12"/>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4" name="TextBox 13"/>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20 / 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04</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이미지 생성 도구의 연결</a:t>
            </a:r>
          </a:p>
        </p:txBody>
      </p:sp>
      <p:pic>
        <p:nvPicPr>
          <p:cNvPr id="4" name="figure-18-7cd81d80-09c1-4244-9651-43bba85771a4_1456x399" descr="figure-18.png"/>
          <p:cNvPicPr>
            <a:picLocks noChangeAspect="1"/>
          </p:cNvPicPr>
          <p:nvPr/>
        </p:nvPicPr>
        <p:blipFill>
          <a:blip r:embed="rId2"/>
          <a:srcRect/>
          <a:stretch>
            <a:fillRect/>
          </a:stretch>
        </p:blipFill>
        <p:spPr>
          <a:xfrm>
            <a:off x="914400" y="2729462"/>
            <a:ext cx="9067800" cy="2484925"/>
          </a:xfrm>
          <a:prstGeom prst="rect">
            <a:avLst/>
          </a:prstGeom>
        </p:spPr>
      </p:pic>
      <p:pic>
        <p:nvPicPr>
          <p:cNvPr id="5" name="figure-19-c02123f6-00f8-4063-8463-5050d2649647_1456x399" descr="figure-19.png"/>
          <p:cNvPicPr>
            <a:picLocks noChangeAspect="1"/>
          </p:cNvPicPr>
          <p:nvPr/>
        </p:nvPicPr>
        <p:blipFill>
          <a:blip r:embed="rId3"/>
          <a:srcRect/>
          <a:stretch>
            <a:fillRect/>
          </a:stretch>
        </p:blipFill>
        <p:spPr>
          <a:xfrm>
            <a:off x="914400" y="6120362"/>
            <a:ext cx="9067800" cy="2484925"/>
          </a:xfrm>
          <a:prstGeom prst="rect">
            <a:avLst/>
          </a:prstGeom>
        </p:spPr>
      </p:pic>
      <p:sp>
        <p:nvSpPr>
          <p:cNvPr id="6" name="TextBox 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사용 환경에 맞춰 내장 기능, Codex CLI 또는 API를 연결한다.</a:t>
            </a:r>
          </a:p>
        </p:txBody>
      </p:sp>
      <p:sp>
        <p:nvSpPr>
          <p:cNvPr id="7" name="TextBox 6"/>
          <p:cNvSpPr txBox="1"/>
          <p:nvPr/>
        </p:nvSpPr>
        <p:spPr>
          <a:xfrm>
            <a:off x="10572750" y="2724150"/>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Claude Code + ChatGPT · 요청 전문</a:t>
            </a:r>
          </a:p>
        </p:txBody>
      </p:sp>
      <p:sp>
        <p:nvSpPr>
          <p:cNvPr id="8" name="TextBox 7"/>
          <p:cNvSpPr txBox="1"/>
          <p:nvPr/>
        </p:nvSpPr>
        <p:spPr>
          <a:xfrm>
            <a:off x="10572750" y="3200400"/>
            <a:ext cx="6800850" cy="1205864"/>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Codex CLI로 이미지를 생성해 주세요. 설치되어 있지 않으면</a:t>
            </a:r>
          </a:p>
          <a:p>
            <a:pPr algn="l">
              <a:lnSpc>
                <a:spcPct val="140000"/>
              </a:lnSpc>
              <a:spcBef>
                <a:spcPts val="0"/>
              </a:spcBef>
              <a:spcAft>
                <a:spcPts val="0"/>
              </a:spcAft>
              <a:defRPr sz="2100" b="0">
                <a:solidFill>
                  <a:srgbClr val="24231F"/>
                </a:solidFill>
                <a:latin typeface="Pretendard"/>
              </a:defRPr>
            </a:pPr>
            <a:r>
              <a:rPr lang="ko-KR">
                <a:ea typeface="Pretendard"/>
              </a:rPr>
              <a:t>설치를 도와주세요. API 키로 요금이 청구되지 않고 제 구독을</a:t>
            </a:r>
          </a:p>
          <a:p>
            <a:pPr algn="l">
              <a:lnSpc>
                <a:spcPct val="140000"/>
              </a:lnSpc>
              <a:spcBef>
                <a:spcPts val="0"/>
              </a:spcBef>
              <a:spcAft>
                <a:spcPts val="0"/>
              </a:spcAft>
              <a:defRPr sz="2100" b="0">
                <a:solidFill>
                  <a:srgbClr val="24231F"/>
                </a:solidFill>
                <a:latin typeface="Pretendard"/>
              </a:defRPr>
            </a:pPr>
            <a:r>
              <a:rPr lang="ko-KR">
                <a:ea typeface="Pretendard"/>
              </a:rPr>
              <a:t>사용하도록 해 주세요.</a:t>
            </a:r>
          </a:p>
        </p:txBody>
      </p:sp>
      <p:sp>
        <p:nvSpPr>
          <p:cNvPr id="9" name="TextBox 8"/>
          <p:cNvSpPr txBox="1"/>
          <p:nvPr/>
        </p:nvSpPr>
        <p:spPr>
          <a:xfrm>
            <a:off x="10572750" y="5000625"/>
            <a:ext cx="68008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API 키 파일 관리 · 요청 전문</a:t>
            </a:r>
          </a:p>
        </p:txBody>
      </p:sp>
      <p:sp>
        <p:nvSpPr>
          <p:cNvPr id="10" name="TextBox 9"/>
          <p:cNvSpPr txBox="1"/>
          <p:nvPr/>
        </p:nvSpPr>
        <p:spPr>
          <a:xfrm>
            <a:off x="10572750" y="5476875"/>
            <a:ext cx="6800850" cy="157924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Git에서 제외되는 .env.agents 파일을 만들고 이 API 키를</a:t>
            </a:r>
          </a:p>
          <a:p>
            <a:pPr algn="l">
              <a:lnSpc>
                <a:spcPct val="140000"/>
              </a:lnSpc>
              <a:spcBef>
                <a:spcPts val="0"/>
              </a:spcBef>
              <a:spcAft>
                <a:spcPts val="0"/>
              </a:spcAft>
              <a:defRPr sz="2100" b="0">
                <a:solidFill>
                  <a:srgbClr val="24231F"/>
                </a:solidFill>
                <a:latin typeface="Pretendard"/>
              </a:defRPr>
            </a:pPr>
            <a:r>
              <a:rPr lang="ko-KR">
                <a:ea typeface="Pretendard"/>
              </a:rPr>
              <a:t>저장해 주세요. 이 키는 개발 중에 사용할 수 있지만 제품에</a:t>
            </a:r>
          </a:p>
          <a:p>
            <a:pPr algn="l">
              <a:lnSpc>
                <a:spcPct val="140000"/>
              </a:lnSpc>
              <a:spcBef>
                <a:spcPts val="0"/>
              </a:spcBef>
              <a:spcAft>
                <a:spcPts val="0"/>
              </a:spcAft>
              <a:defRPr sz="2100" b="0">
                <a:solidFill>
                  <a:srgbClr val="24231F"/>
                </a:solidFill>
                <a:latin typeface="Pretendard"/>
              </a:defRPr>
            </a:pPr>
            <a:r>
              <a:rPr lang="ko-KR">
                <a:ea typeface="Pretendard"/>
              </a:rPr>
              <a:t>포함해서는 안 된다는 내용을 AGENTS.md/CLAUDE.md에</a:t>
            </a:r>
          </a:p>
          <a:p>
            <a:pPr algn="l">
              <a:lnSpc>
                <a:spcPct val="140000"/>
              </a:lnSpc>
              <a:spcBef>
                <a:spcPts val="0"/>
              </a:spcBef>
              <a:spcAft>
                <a:spcPts val="0"/>
              </a:spcAft>
              <a:defRPr sz="2100" b="0">
                <a:solidFill>
                  <a:srgbClr val="24231F"/>
                </a:solidFill>
                <a:latin typeface="Pretendard"/>
              </a:defRPr>
            </a:pPr>
            <a:r>
              <a:rPr lang="ko-KR">
                <a:ea typeface="Pretendard"/>
              </a:rPr>
              <a:t>기록해 주세요.</a:t>
            </a:r>
          </a:p>
        </p:txBody>
      </p:sp>
      <p:sp>
        <p:nvSpPr>
          <p:cNvPr id="11" name="TextBox 10"/>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2" name="TextBox 11"/>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3" name="TextBox 12"/>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21 / 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05</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정지 이미지의 반복 재생 영상 전환</a:t>
            </a:r>
          </a:p>
        </p:txBody>
      </p:sp>
      <p:pic>
        <p:nvPicPr>
          <p:cNvPr id="4" name="figure-20-aa994e2f-caec-40bf-8cc5-8a1ef101dd21_1456x399" descr="figure-20.png"/>
          <p:cNvPicPr>
            <a:picLocks noChangeAspect="1"/>
          </p:cNvPicPr>
          <p:nvPr/>
        </p:nvPicPr>
        <p:blipFill>
          <a:blip r:embed="rId2"/>
          <a:srcRect/>
          <a:stretch>
            <a:fillRect/>
          </a:stretch>
        </p:blipFill>
        <p:spPr>
          <a:xfrm>
            <a:off x="2018631" y="2381250"/>
            <a:ext cx="14250736" cy="3905249"/>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단색 배경의 반복 재생 영상에서 배경을 제거해 풍부한 움직임을 표현한다.</a:t>
            </a:r>
          </a:p>
        </p:txBody>
      </p:sp>
      <p:sp>
        <p:nvSpPr>
          <p:cNvPr id="6" name="TextBox 5"/>
          <p:cNvSpPr txBox="1"/>
          <p:nvPr/>
        </p:nvSpPr>
        <p:spPr>
          <a:xfrm>
            <a:off x="914400" y="6715125"/>
            <a:ext cx="78486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 · 1/2</a:t>
            </a:r>
          </a:p>
        </p:txBody>
      </p:sp>
      <p:sp>
        <p:nvSpPr>
          <p:cNvPr id="7" name="TextBox 6"/>
          <p:cNvSpPr txBox="1"/>
          <p:nvPr/>
        </p:nvSpPr>
        <p:spPr>
          <a:xfrm>
            <a:off x="914400" y="7191375"/>
            <a:ext cx="7848600" cy="1525905"/>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이 페이지의 이미지를 더 흥미로운 움직임이 있는 반복 재생 영상으로</a:t>
            </a:r>
          </a:p>
          <a:p>
            <a:pPr algn="l">
              <a:lnSpc>
                <a:spcPct val="140000"/>
              </a:lnSpc>
              <a:spcBef>
                <a:spcPts val="0"/>
              </a:spcBef>
              <a:spcAft>
                <a:spcPts val="0"/>
              </a:spcAft>
              <a:defRPr sz="2025" b="0">
                <a:solidFill>
                  <a:srgbClr val="24231F"/>
                </a:solidFill>
                <a:latin typeface="Pretendard"/>
              </a:defRPr>
            </a:pPr>
            <a:r>
              <a:rPr lang="ko-KR">
                <a:ea typeface="Pretendard"/>
              </a:rPr>
              <a:t>바꿔주세요. 크리스털이 여러 조각으로 갈라져 천천히 회전하게 해 주세요.</a:t>
            </a:r>
          </a:p>
          <a:p>
            <a:pPr algn="l">
              <a:lnSpc>
                <a:spcPct val="140000"/>
              </a:lnSpc>
              <a:spcBef>
                <a:spcPts val="0"/>
              </a:spcBef>
              <a:spcAft>
                <a:spcPts val="0"/>
              </a:spcAft>
              <a:defRPr sz="2025" b="0">
                <a:solidFill>
                  <a:srgbClr val="24231F"/>
                </a:solidFill>
                <a:latin typeface="Pretendard"/>
              </a:defRPr>
            </a:pPr>
            <a:r>
              <a:rPr lang="ko-KR">
                <a:ea typeface="Pretendard"/>
              </a:rPr>
              <a:t>페이지 배경을 굴절시키고 주변에 그림자와 빛을 드리우는 멋진 유리 효과를</a:t>
            </a:r>
          </a:p>
          <a:p>
            <a:pPr algn="l">
              <a:lnSpc>
                <a:spcPct val="140000"/>
              </a:lnSpc>
              <a:spcBef>
                <a:spcPts val="0"/>
              </a:spcBef>
              <a:spcAft>
                <a:spcPts val="0"/>
              </a:spcAft>
              <a:defRPr sz="2025" b="0">
                <a:solidFill>
                  <a:srgbClr val="24231F"/>
                </a:solidFill>
                <a:latin typeface="Pretendard"/>
              </a:defRPr>
            </a:pPr>
            <a:r>
              <a:rPr lang="ko-KR">
                <a:ea typeface="Pretendard"/>
              </a:rPr>
              <a:t>넣어주세요.</a:t>
            </a:r>
          </a:p>
        </p:txBody>
      </p:sp>
      <p:sp>
        <p:nvSpPr>
          <p:cNvPr id="8" name="TextBox 7"/>
          <p:cNvSpPr txBox="1"/>
          <p:nvPr/>
        </p:nvSpPr>
        <p:spPr>
          <a:xfrm>
            <a:off x="9525000" y="6715125"/>
            <a:ext cx="78486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 · 2/2</a:t>
            </a:r>
          </a:p>
        </p:txBody>
      </p:sp>
      <p:sp>
        <p:nvSpPr>
          <p:cNvPr id="9" name="TextBox 8"/>
          <p:cNvSpPr txBox="1"/>
          <p:nvPr/>
        </p:nvSpPr>
        <p:spPr>
          <a:xfrm>
            <a:off x="9525000" y="7191375"/>
            <a:ext cx="7848600" cy="116586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유리의 굴절 효과가 자연스럽게 보이도록 먼저 페이지 배경색 위에서 유리</a:t>
            </a:r>
          </a:p>
          <a:p>
            <a:pPr algn="l">
              <a:lnSpc>
                <a:spcPct val="140000"/>
              </a:lnSpc>
              <a:spcBef>
                <a:spcPts val="0"/>
              </a:spcBef>
              <a:spcAft>
                <a:spcPts val="0"/>
              </a:spcAft>
              <a:defRPr sz="2025" b="0">
                <a:solidFill>
                  <a:srgbClr val="24231F"/>
                </a:solidFill>
                <a:latin typeface="Pretendard"/>
              </a:defRPr>
            </a:pPr>
            <a:r>
              <a:rPr lang="ko-KR">
                <a:ea typeface="Pretendard"/>
              </a:rPr>
              <a:t>영상을 렌더링해 주세요. 이렇게 굴절 효과를 영상에 담은 다음, 영상 매팅</a:t>
            </a:r>
          </a:p>
          <a:p>
            <a:pPr algn="l">
              <a:lnSpc>
                <a:spcPct val="140000"/>
              </a:lnSpc>
              <a:spcBef>
                <a:spcPts val="0"/>
              </a:spcBef>
              <a:spcAft>
                <a:spcPts val="0"/>
              </a:spcAft>
              <a:defRPr sz="2025" b="0">
                <a:solidFill>
                  <a:srgbClr val="24231F"/>
                </a:solidFill>
                <a:latin typeface="Pretendard"/>
              </a:defRPr>
            </a:pPr>
            <a:r>
              <a:rPr lang="ko-KR">
                <a:ea typeface="Pretendard"/>
              </a:rPr>
              <a:t>모델로 배경을 제거해 주세요.</a:t>
            </a:r>
          </a:p>
        </p:txBody>
      </p:sp>
      <p:sp>
        <p:nvSpPr>
          <p:cNvPr id="10" name="TextBox 9"/>
          <p:cNvSpPr txBox="1"/>
          <p:nvPr/>
        </p:nvSpPr>
        <p:spPr>
          <a:xfrm>
            <a:off x="9525000" y="8433435"/>
            <a:ext cx="7848600"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이 fal.ai API 키를 사용해 주세요: sk-a1b2c3d4…</a:t>
            </a:r>
          </a:p>
        </p:txBody>
      </p:sp>
      <p:sp>
        <p:nvSpPr>
          <p:cNvPr id="11" name="TextBox 10"/>
          <p:cNvSpPr txBox="1"/>
          <p:nvPr/>
        </p:nvSpPr>
        <p:spPr>
          <a:xfrm>
            <a:off x="9525000" y="8955405"/>
            <a:ext cx="7848600"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영상 생성과 배경 제거에 적합한 최신 모델을 찾아주세요.</a:t>
            </a:r>
          </a:p>
        </p:txBody>
      </p:sp>
      <p:sp>
        <p:nvSpPr>
          <p:cNvPr id="12" name="TextBox 11"/>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3" name="TextBox 12"/>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4" name="TextBox 13"/>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22 / 39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구체화 · 05</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상태 간 전환과 스크롤 연동</a:t>
            </a:r>
          </a:p>
        </p:txBody>
      </p:sp>
      <p:pic>
        <p:nvPicPr>
          <p:cNvPr id="4" name="figure-21-2f3bb583-375b-4a12-aa57-64a10bf2d9e7_960x540" descr="figure-21.png"/>
          <p:cNvPicPr>
            <a:picLocks noChangeAspect="1"/>
          </p:cNvPicPr>
          <p:nvPr/>
        </p:nvPicPr>
        <p:blipFill>
          <a:blip r:embed="rId2"/>
          <a:srcRect/>
          <a:stretch>
            <a:fillRect/>
          </a:stretch>
        </p:blipFill>
        <p:spPr>
          <a:xfrm>
            <a:off x="914400" y="3449240"/>
            <a:ext cx="7886700" cy="4436268"/>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각 영상의 마지막 프레임을 다음 전환의 시작점으로 사용해 끊김 없이 잇는다.</a:t>
            </a:r>
          </a:p>
        </p:txBody>
      </p:sp>
      <p:sp>
        <p:nvSpPr>
          <p:cNvPr id="6" name="TextBox 5"/>
          <p:cNvSpPr txBox="1"/>
          <p:nvPr/>
        </p:nvSpPr>
        <p:spPr>
          <a:xfrm>
            <a:off x="9620250" y="2590800"/>
            <a:ext cx="775334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프롬프트 전문</a:t>
            </a:r>
          </a:p>
        </p:txBody>
      </p:sp>
      <p:sp>
        <p:nvSpPr>
          <p:cNvPr id="7" name="TextBox 6"/>
          <p:cNvSpPr txBox="1"/>
          <p:nvPr/>
        </p:nvSpPr>
        <p:spPr>
          <a:xfrm>
            <a:off x="9620250" y="3067050"/>
            <a:ext cx="7753349" cy="116586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영상 모델을 사용해 몇 개의 화면 사이를 사용자 조작에 따라 전환하는 여행</a:t>
            </a:r>
          </a:p>
          <a:p>
            <a:pPr algn="l">
              <a:lnSpc>
                <a:spcPct val="140000"/>
              </a:lnSpc>
              <a:spcBef>
                <a:spcPts val="0"/>
              </a:spcBef>
              <a:spcAft>
                <a:spcPts val="0"/>
              </a:spcAft>
              <a:defRPr sz="2025" b="0">
                <a:solidFill>
                  <a:srgbClr val="24231F"/>
                </a:solidFill>
                <a:latin typeface="Pretendard"/>
              </a:defRPr>
            </a:pPr>
            <a:r>
              <a:rPr lang="ko-KR">
                <a:ea typeface="Pretendard"/>
              </a:rPr>
              <a:t>가방 데모 페이지를 만들어주세요. 각 화면에는 서로 다른 상태의 여행</a:t>
            </a:r>
          </a:p>
          <a:p>
            <a:pPr algn="l">
              <a:lnSpc>
                <a:spcPct val="140000"/>
              </a:lnSpc>
              <a:spcBef>
                <a:spcPts val="0"/>
              </a:spcBef>
              <a:spcAft>
                <a:spcPts val="0"/>
              </a:spcAft>
              <a:defRPr sz="2025" b="0">
                <a:solidFill>
                  <a:srgbClr val="24231F"/>
                </a:solidFill>
                <a:latin typeface="Pretendard"/>
              </a:defRPr>
            </a:pPr>
            <a:r>
              <a:rPr lang="ko-KR">
                <a:ea typeface="Pretendard"/>
              </a:rPr>
              <a:t>가방이 보여야 합니다. 스크롤에 어울리는 수직 움직임을 넣어주세요.</a:t>
            </a:r>
          </a:p>
        </p:txBody>
      </p:sp>
      <p:sp>
        <p:nvSpPr>
          <p:cNvPr id="8" name="TextBox 7"/>
          <p:cNvSpPr txBox="1"/>
          <p:nvPr/>
        </p:nvSpPr>
        <p:spPr>
          <a:xfrm>
            <a:off x="9620250" y="4309109"/>
            <a:ext cx="7753349"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 처음에는 여행 가방이 공중 높이 떠 있게 해 주세요.</a:t>
            </a:r>
          </a:p>
        </p:txBody>
      </p:sp>
      <p:sp>
        <p:nvSpPr>
          <p:cNvPr id="9" name="TextBox 8"/>
          <p:cNvSpPr txBox="1"/>
          <p:nvPr/>
        </p:nvSpPr>
        <p:spPr>
          <a:xfrm>
            <a:off x="9620250" y="4831080"/>
            <a:ext cx="7753349"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 그다음에는 바닥에 내려앉아 뚜껑이 열리게 해 주세요.</a:t>
            </a:r>
          </a:p>
        </p:txBody>
      </p:sp>
      <p:sp>
        <p:nvSpPr>
          <p:cNvPr id="10" name="TextBox 9"/>
          <p:cNvSpPr txBox="1"/>
          <p:nvPr/>
        </p:nvSpPr>
        <p:spPr>
          <a:xfrm>
            <a:off x="9620250" y="5353050"/>
            <a:ext cx="7753349"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 마지막으로 짐이 위에서 내려와 가방 안에 가지런히 담기게 해 주세요.</a:t>
            </a:r>
          </a:p>
        </p:txBody>
      </p:sp>
      <p:sp>
        <p:nvSpPr>
          <p:cNvPr id="11" name="TextBox 10"/>
          <p:cNvSpPr txBox="1"/>
          <p:nvPr/>
        </p:nvSpPr>
        <p:spPr>
          <a:xfrm>
            <a:off x="9620250" y="5875020"/>
            <a:ext cx="7753349" cy="188595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이미지 생성 스킬로 첫 프레임을 만들어주세요. 그런 다음 그 프레임에서</a:t>
            </a:r>
          </a:p>
          <a:p>
            <a:pPr algn="l">
              <a:lnSpc>
                <a:spcPct val="140000"/>
              </a:lnSpc>
              <a:spcBef>
                <a:spcPts val="0"/>
              </a:spcBef>
              <a:spcAft>
                <a:spcPts val="0"/>
              </a:spcAft>
              <a:defRPr sz="2025" b="0">
                <a:solidFill>
                  <a:srgbClr val="24231F"/>
                </a:solidFill>
                <a:latin typeface="Pretendard"/>
              </a:defRPr>
            </a:pPr>
            <a:r>
              <a:rPr lang="ko-KR">
                <a:ea typeface="Pretendard"/>
              </a:rPr>
              <a:t>시작해 다음 상태로 움직이는 영상을 생성해 주세요. 영상의 마지막</a:t>
            </a:r>
          </a:p>
          <a:p>
            <a:pPr algn="l">
              <a:lnSpc>
                <a:spcPct val="140000"/>
              </a:lnSpc>
              <a:spcBef>
                <a:spcPts val="0"/>
              </a:spcBef>
              <a:spcAft>
                <a:spcPts val="0"/>
              </a:spcAft>
              <a:defRPr sz="2025" b="0">
                <a:solidFill>
                  <a:srgbClr val="24231F"/>
                </a:solidFill>
                <a:latin typeface="Pretendard"/>
              </a:defRPr>
            </a:pPr>
            <a:r>
              <a:rPr lang="ko-KR">
                <a:ea typeface="Pretendard"/>
              </a:rPr>
              <a:t>프레임을 다음 전환의 시작점으로 사용해 끊김 없이 이어지게 해 주세요.</a:t>
            </a:r>
          </a:p>
          <a:p>
            <a:pPr algn="l">
              <a:lnSpc>
                <a:spcPct val="140000"/>
              </a:lnSpc>
              <a:spcBef>
                <a:spcPts val="0"/>
              </a:spcBef>
              <a:spcAft>
                <a:spcPts val="0"/>
              </a:spcAft>
              <a:defRPr sz="2025" b="0">
                <a:solidFill>
                  <a:srgbClr val="24231F"/>
                </a:solidFill>
                <a:latin typeface="Pretendard"/>
              </a:defRPr>
            </a:pPr>
            <a:r>
              <a:rPr lang="ko-KR">
                <a:ea typeface="Pretendard"/>
              </a:rPr>
              <a:t>사용자가 스크롤하면 각 전환 장면이 차례로 프레임 단위로 진행되게 해</a:t>
            </a:r>
          </a:p>
          <a:p>
            <a:pPr algn="l">
              <a:lnSpc>
                <a:spcPct val="140000"/>
              </a:lnSpc>
              <a:spcBef>
                <a:spcPts val="0"/>
              </a:spcBef>
              <a:spcAft>
                <a:spcPts val="0"/>
              </a:spcAft>
              <a:defRPr sz="2025" b="0">
                <a:solidFill>
                  <a:srgbClr val="24231F"/>
                </a:solidFill>
                <a:latin typeface="Pretendard"/>
              </a:defRPr>
            </a:pPr>
            <a:r>
              <a:rPr lang="ko-KR">
                <a:ea typeface="Pretendard"/>
              </a:rPr>
              <a:t>주세요.</a:t>
            </a:r>
          </a:p>
        </p:txBody>
      </p:sp>
      <p:sp>
        <p:nvSpPr>
          <p:cNvPr id="12" name="TextBox 11"/>
          <p:cNvSpPr txBox="1"/>
          <p:nvPr/>
        </p:nvSpPr>
        <p:spPr>
          <a:xfrm>
            <a:off x="9620250" y="7837170"/>
            <a:ext cx="7753349" cy="445770"/>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이 fal.ai API 키를 사용해 주세요: sk-a1b2c3d4…</a:t>
            </a:r>
          </a:p>
        </p:txBody>
      </p:sp>
      <p:sp>
        <p:nvSpPr>
          <p:cNvPr id="13" name="TextBox 12"/>
          <p:cNvSpPr txBox="1"/>
          <p:nvPr/>
        </p:nvSpPr>
        <p:spPr>
          <a:xfrm>
            <a:off x="9620250" y="8359140"/>
            <a:ext cx="7753349" cy="805815"/>
          </a:xfrm>
          <a:prstGeom prst="rect">
            <a:avLst/>
          </a:prstGeom>
          <a:noFill/>
        </p:spPr>
        <p:txBody>
          <a:bodyPr wrap="square" lIns="0" rIns="0" tIns="0" bIns="0" anchor="t">
            <a:spAutoFit/>
          </a:bodyPr>
          <a:lstStyle/>
          <a:p>
            <a:pPr algn="l">
              <a:lnSpc>
                <a:spcPct val="140000"/>
              </a:lnSpc>
              <a:spcBef>
                <a:spcPts val="0"/>
              </a:spcBef>
              <a:spcAft>
                <a:spcPts val="0"/>
              </a:spcAft>
              <a:defRPr sz="2025" b="0">
                <a:solidFill>
                  <a:srgbClr val="24231F"/>
                </a:solidFill>
                <a:latin typeface="Pretendard"/>
              </a:defRPr>
            </a:pPr>
            <a:r>
              <a:rPr lang="ko-KR">
                <a:ea typeface="Pretendard"/>
              </a:rPr>
              <a:t>Seedance 2.5처럼 물리적 움직임을 잘 표현하고 장면의 일관성을 잘</a:t>
            </a:r>
          </a:p>
          <a:p>
            <a:pPr algn="l">
              <a:lnSpc>
                <a:spcPct val="140000"/>
              </a:lnSpc>
              <a:spcBef>
                <a:spcPts val="0"/>
              </a:spcBef>
              <a:spcAft>
                <a:spcPts val="0"/>
              </a:spcAft>
              <a:defRPr sz="2025" b="0">
                <a:solidFill>
                  <a:srgbClr val="24231F"/>
                </a:solidFill>
                <a:latin typeface="Pretendard"/>
              </a:defRPr>
            </a:pPr>
            <a:r>
              <a:rPr lang="ko-KR">
                <a:ea typeface="Pretendard"/>
              </a:rPr>
              <a:t>유지하는 영상 모델을 사용해 주세요.</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23 / 39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06</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쓸모없는 요소의 삭제</a:t>
            </a:r>
          </a:p>
        </p:txBody>
      </p:sp>
      <p:pic>
        <p:nvPicPr>
          <p:cNvPr id="4" name="적용 전" descr="figure-22-dc9186ef-2b04-42a0-a460-8898b0590797_1456x964.jpg"/>
          <p:cNvPicPr>
            <a:picLocks noChangeAspect="1"/>
          </p:cNvPicPr>
          <p:nvPr/>
        </p:nvPicPr>
        <p:blipFill>
          <a:blip r:embed="rId2"/>
          <a:srcRect/>
          <a:stretch>
            <a:fillRect/>
          </a:stretch>
        </p:blipFill>
        <p:spPr>
          <a:xfrm>
            <a:off x="1388120" y="2428875"/>
            <a:ext cx="6977358" cy="4619625"/>
          </a:xfrm>
          <a:prstGeom prst="rect">
            <a:avLst/>
          </a:prstGeom>
        </p:spPr>
      </p:pic>
      <p:sp>
        <p:nvSpPr>
          <p:cNvPr id="5" name="TextBox 4"/>
          <p:cNvSpPr txBox="1"/>
          <p:nvPr/>
        </p:nvSpPr>
        <p:spPr>
          <a:xfrm>
            <a:off x="914400" y="7162800"/>
            <a:ext cx="79247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적용 전</a:t>
            </a:r>
          </a:p>
        </p:txBody>
      </p:sp>
      <p:pic>
        <p:nvPicPr>
          <p:cNvPr id="6" name="적용 후" descr="figure-23-fdf80ee5-9f43-44e9-93cf-c477a9e49128_1456x964.jpg"/>
          <p:cNvPicPr>
            <a:picLocks noChangeAspect="1"/>
          </p:cNvPicPr>
          <p:nvPr/>
        </p:nvPicPr>
        <p:blipFill>
          <a:blip r:embed="rId3"/>
          <a:srcRect/>
          <a:stretch>
            <a:fillRect/>
          </a:stretch>
        </p:blipFill>
        <p:spPr>
          <a:xfrm>
            <a:off x="9922520" y="2428875"/>
            <a:ext cx="6977358" cy="4619625"/>
          </a:xfrm>
          <a:prstGeom prst="rect">
            <a:avLst/>
          </a:prstGeom>
        </p:spPr>
      </p:pic>
      <p:sp>
        <p:nvSpPr>
          <p:cNvPr id="7" name="TextBox 6"/>
          <p:cNvSpPr txBox="1"/>
          <p:nvPr/>
        </p:nvSpPr>
        <p:spPr>
          <a:xfrm>
            <a:off x="9448800" y="7162800"/>
            <a:ext cx="79247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적용 후</a:t>
            </a:r>
          </a:p>
        </p:txBody>
      </p:sp>
      <p:sp>
        <p:nvSpPr>
          <p:cNvPr id="8" name="TextBox 7"/>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사진 중심의 격자 배열로 정리하고 발광 효과와 불필요한 상자를 없앤다.</a:t>
            </a:r>
          </a:p>
        </p:txBody>
      </p:sp>
      <p:sp>
        <p:nvSpPr>
          <p:cNvPr id="9" name="TextBox 8"/>
          <p:cNvSpPr txBox="1"/>
          <p:nvPr/>
        </p:nvSpPr>
        <p:spPr>
          <a:xfrm>
            <a:off x="914400" y="7620000"/>
            <a:ext cx="164592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원문 요청 전문</a:t>
            </a:r>
          </a:p>
        </p:txBody>
      </p:sp>
      <p:sp>
        <p:nvSpPr>
          <p:cNvPr id="10" name="TextBox 9"/>
          <p:cNvSpPr txBox="1"/>
          <p:nvPr/>
        </p:nvSpPr>
        <p:spPr>
          <a:xfrm>
            <a:off x="914400" y="8096249"/>
            <a:ext cx="164592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사진 중심의 격자 배열로 화면을 단순하게 정리해 주세요.</a:t>
            </a:r>
          </a:p>
        </p:txBody>
      </p:sp>
      <p:sp>
        <p:nvSpPr>
          <p:cNvPr id="11" name="TextBox 10"/>
          <p:cNvSpPr txBox="1"/>
          <p:nvPr/>
        </p:nvSpPr>
        <p:spPr>
          <a:xfrm>
            <a:off x="914400" y="8583930"/>
            <a:ext cx="164592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그라데이션, 발광 효과, 불필요한 상자를 없애주세요.</a:t>
            </a:r>
          </a:p>
        </p:txBody>
      </p:sp>
      <p:sp>
        <p:nvSpPr>
          <p:cNvPr id="12" name="TextBox 11"/>
          <p:cNvSpPr txBox="1"/>
          <p:nvPr/>
        </p:nvSpPr>
        <p:spPr>
          <a:xfrm>
            <a:off x="914400" y="9071610"/>
            <a:ext cx="164592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 Apple의 기본 앱처럼 느껴지는, 정말 간결한 디자인을 만들어주세요.</a:t>
            </a:r>
          </a:p>
        </p:txBody>
      </p:sp>
      <p:sp>
        <p:nvSpPr>
          <p:cNvPr id="13" name="TextBox 12"/>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4" name="TextBox 13"/>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5" name="TextBox 14"/>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24 / 39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07</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중복 이름표의 정리</a:t>
            </a:r>
          </a:p>
        </p:txBody>
      </p:sp>
      <p:pic>
        <p:nvPicPr>
          <p:cNvPr id="4" name="figure-24-65ceb75e-aeb7-411d-99fa-eacaad0dbdae_1456x2424" descr="figure-24-65ceb75e-aeb7-411d-99fa-eacaad0dbdae_1456x2424.jpg"/>
          <p:cNvPicPr>
            <a:picLocks noChangeAspect="1"/>
          </p:cNvPicPr>
          <p:nvPr/>
        </p:nvPicPr>
        <p:blipFill>
          <a:blip r:embed="rId2"/>
          <a:srcRect t="7508" b="72937"/>
          <a:stretch>
            <a:fillRect/>
          </a:stretch>
        </p:blipFill>
        <p:spPr>
          <a:xfrm>
            <a:off x="1492973" y="2457450"/>
            <a:ext cx="15302053" cy="498157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이미 분명한 내용을 반복하는 작은 이름표는 대부분 없애도 된다.</a:t>
            </a:r>
          </a:p>
        </p:txBody>
      </p:sp>
      <p:sp>
        <p:nvSpPr>
          <p:cNvPr id="6" name="TextBox 5"/>
          <p:cNvSpPr txBox="1"/>
          <p:nvPr/>
        </p:nvSpPr>
        <p:spPr>
          <a:xfrm>
            <a:off x="914400" y="7848600"/>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너무 자주 쓰는 방식</a:t>
            </a:r>
          </a:p>
        </p:txBody>
      </p:sp>
      <p:sp>
        <p:nvSpPr>
          <p:cNvPr id="7" name="TextBox 6"/>
          <p:cNvSpPr txBox="1"/>
          <p:nvPr/>
        </p:nvSpPr>
        <p:spPr>
          <a:xfrm>
            <a:off x="914400" y="8324849"/>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제목 위에 붙이는 작은 설명: 이미 분명한 내용을 반복하는 이름표</a:t>
            </a:r>
          </a:p>
        </p:txBody>
      </p:sp>
      <p:sp>
        <p:nvSpPr>
          <p:cNvPr id="8" name="TextBox 7"/>
          <p:cNvSpPr txBox="1"/>
          <p:nvPr/>
        </p:nvSpPr>
        <p:spPr>
          <a:xfrm>
            <a:off x="9448800" y="7848600"/>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더 나은 선택지</a:t>
            </a:r>
          </a:p>
        </p:txBody>
      </p:sp>
      <p:sp>
        <p:nvSpPr>
          <p:cNvPr id="9" name="TextBox 8"/>
          <p:cNvSpPr txBox="1"/>
          <p:nvPr/>
        </p:nvSpPr>
        <p:spPr>
          <a:xfrm>
            <a:off x="9448800" y="8324849"/>
            <a:ext cx="7924799"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대부분은 없애도 필요한 정보가 줄어들지 않습니다.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25 / 39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07</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배경을 다양하게</a:t>
            </a:r>
          </a:p>
        </p:txBody>
      </p:sp>
      <p:pic>
        <p:nvPicPr>
          <p:cNvPr id="4" name="figure-24-65ceb75e-aeb7-411d-99fa-eacaad0dbdae_1456x2424" descr="figure-24-65ceb75e-aeb7-411d-99fa-eacaad0dbdae_1456x2424.jpg"/>
          <p:cNvPicPr>
            <a:picLocks noChangeAspect="1"/>
          </p:cNvPicPr>
          <p:nvPr/>
        </p:nvPicPr>
        <p:blipFill>
          <a:blip r:embed="rId2"/>
          <a:srcRect t="32591" b="48556"/>
          <a:stretch>
            <a:fillRect/>
          </a:stretch>
        </p:blipFill>
        <p:spPr>
          <a:xfrm>
            <a:off x="1208361" y="2457450"/>
            <a:ext cx="15871276" cy="498157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흔한 그라데이션 대신 이미지와 무늬 또는 패턴으로 변경한다</a:t>
            </a:r>
          </a:p>
        </p:txBody>
      </p:sp>
      <p:sp>
        <p:nvSpPr>
          <p:cNvPr id="6" name="TextBox 5"/>
          <p:cNvSpPr txBox="1"/>
          <p:nvPr/>
        </p:nvSpPr>
        <p:spPr>
          <a:xfrm>
            <a:off x="914400" y="7848600"/>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너무 자주 쓰는 방식</a:t>
            </a:r>
          </a:p>
        </p:txBody>
      </p:sp>
      <p:sp>
        <p:nvSpPr>
          <p:cNvPr id="7" name="TextBox 6"/>
          <p:cNvSpPr txBox="1"/>
          <p:nvPr/>
        </p:nvSpPr>
        <p:spPr>
          <a:xfrm>
            <a:off x="914400" y="8324849"/>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흔한 배경 그라데이션</a:t>
            </a:r>
          </a:p>
        </p:txBody>
      </p:sp>
      <p:sp>
        <p:nvSpPr>
          <p:cNvPr id="8" name="TextBox 7"/>
          <p:cNvSpPr txBox="1"/>
          <p:nvPr/>
        </p:nvSpPr>
        <p:spPr>
          <a:xfrm>
            <a:off x="9448800" y="7848600"/>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더 나은 선택지</a:t>
            </a:r>
          </a:p>
        </p:txBody>
      </p:sp>
      <p:sp>
        <p:nvSpPr>
          <p:cNvPr id="9" name="TextBox 8"/>
          <p:cNvSpPr txBox="1"/>
          <p:nvPr/>
        </p:nvSpPr>
        <p:spPr>
          <a:xfrm>
            <a:off x="9448800" y="8324849"/>
            <a:ext cx="7924799"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배경 이미지, 무늬 또는 단색을 사용합니다.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26 / 39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07</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내용 중심의 평평한 배치</a:t>
            </a:r>
          </a:p>
        </p:txBody>
      </p:sp>
      <p:pic>
        <p:nvPicPr>
          <p:cNvPr id="4" name="figure-24-65ceb75e-aeb7-411d-99fa-eacaad0dbdae_1456x2424" descr="figure-24-65ceb75e-aeb7-411d-99fa-eacaad0dbdae_1456x2424.jpg"/>
          <p:cNvPicPr>
            <a:picLocks noChangeAspect="1"/>
          </p:cNvPicPr>
          <p:nvPr/>
        </p:nvPicPr>
        <p:blipFill>
          <a:blip r:embed="rId2"/>
          <a:srcRect t="55157" b="25330"/>
          <a:stretch>
            <a:fillRect/>
          </a:stretch>
        </p:blipFill>
        <p:spPr>
          <a:xfrm>
            <a:off x="1476797" y="2457450"/>
            <a:ext cx="15334404" cy="498157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지나치게 많은 카드와 상자를 격자나 타일처럼 평평한 배치로 바꾼다.</a:t>
            </a:r>
          </a:p>
        </p:txBody>
      </p:sp>
      <p:sp>
        <p:nvSpPr>
          <p:cNvPr id="6" name="TextBox 5"/>
          <p:cNvSpPr txBox="1"/>
          <p:nvPr/>
        </p:nvSpPr>
        <p:spPr>
          <a:xfrm>
            <a:off x="914400" y="7848600"/>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너무 자주 쓰는 방식</a:t>
            </a:r>
          </a:p>
        </p:txBody>
      </p:sp>
      <p:sp>
        <p:nvSpPr>
          <p:cNvPr id="7" name="TextBox 6"/>
          <p:cNvSpPr txBox="1"/>
          <p:nvPr/>
        </p:nvSpPr>
        <p:spPr>
          <a:xfrm>
            <a:off x="914400" y="8324849"/>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지나치게 많은 카드와 상자</a:t>
            </a:r>
          </a:p>
        </p:txBody>
      </p:sp>
      <p:sp>
        <p:nvSpPr>
          <p:cNvPr id="8" name="TextBox 7"/>
          <p:cNvSpPr txBox="1"/>
          <p:nvPr/>
        </p:nvSpPr>
        <p:spPr>
          <a:xfrm>
            <a:off x="9448800" y="7848600"/>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더 나은 선택지</a:t>
            </a:r>
          </a:p>
        </p:txBody>
      </p:sp>
      <p:sp>
        <p:nvSpPr>
          <p:cNvPr id="9" name="TextBox 8"/>
          <p:cNvSpPr txBox="1"/>
          <p:nvPr/>
        </p:nvSpPr>
        <p:spPr>
          <a:xfrm>
            <a:off x="9448800" y="8324849"/>
            <a:ext cx="7924799"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격자나 타일처럼 중첩이 적고 평평한 배치를 사용합니다.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27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07</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글자 스타일의 절제</a:t>
            </a:r>
          </a:p>
        </p:txBody>
      </p:sp>
      <p:pic>
        <p:nvPicPr>
          <p:cNvPr id="4" name="figure-24-65ceb75e-aeb7-411d-99fa-eacaad0dbdae_1456x2424" descr="figure-24-65ceb75e-aeb7-411d-99fa-eacaad0dbdae_1456x2424.jpg"/>
          <p:cNvPicPr>
            <a:picLocks noChangeAspect="1"/>
          </p:cNvPicPr>
          <p:nvPr/>
        </p:nvPicPr>
        <p:blipFill>
          <a:blip r:embed="rId2"/>
          <a:srcRect t="80239"/>
          <a:stretch>
            <a:fillRect/>
          </a:stretch>
        </p:blipFill>
        <p:spPr>
          <a:xfrm>
            <a:off x="1572837" y="2457450"/>
            <a:ext cx="15142324" cy="4981575"/>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글꼴 1~2개와 스타일 2~4개로 시작하고 강조색과 기울임꼴을 아껴 쓴다.</a:t>
            </a:r>
          </a:p>
        </p:txBody>
      </p:sp>
      <p:sp>
        <p:nvSpPr>
          <p:cNvPr id="6" name="TextBox 5"/>
          <p:cNvSpPr txBox="1"/>
          <p:nvPr/>
        </p:nvSpPr>
        <p:spPr>
          <a:xfrm>
            <a:off x="914400" y="7848600"/>
            <a:ext cx="762000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너무 자주 쓰는 방식</a:t>
            </a:r>
          </a:p>
        </p:txBody>
      </p:sp>
      <p:sp>
        <p:nvSpPr>
          <p:cNvPr id="7" name="TextBox 6"/>
          <p:cNvSpPr txBox="1"/>
          <p:nvPr/>
        </p:nvSpPr>
        <p:spPr>
          <a:xfrm>
            <a:off x="914400" y="8324849"/>
            <a:ext cx="7620000" cy="45910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너무 많은 글꼴, 글자 스타일과 글자 크기 단계</a:t>
            </a:r>
          </a:p>
        </p:txBody>
      </p:sp>
      <p:sp>
        <p:nvSpPr>
          <p:cNvPr id="8" name="TextBox 7"/>
          <p:cNvSpPr txBox="1"/>
          <p:nvPr/>
        </p:nvSpPr>
        <p:spPr>
          <a:xfrm>
            <a:off x="9448800" y="7848600"/>
            <a:ext cx="7924799"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더 나은 선택지</a:t>
            </a:r>
          </a:p>
        </p:txBody>
      </p:sp>
      <p:sp>
        <p:nvSpPr>
          <p:cNvPr id="9" name="TextBox 8"/>
          <p:cNvSpPr txBox="1"/>
          <p:nvPr/>
        </p:nvSpPr>
        <p:spPr>
          <a:xfrm>
            <a:off x="9448800" y="8324849"/>
            <a:ext cx="7924799" cy="832485"/>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24231F"/>
                </a:solidFill>
                <a:latin typeface="Pretendard"/>
              </a:defRPr>
            </a:pPr>
            <a:r>
              <a:rPr lang="ko-KR">
                <a:ea typeface="Pretendard"/>
              </a:rPr>
              <a:t>글꼴 1~2개와 스타일 2~4개로 시작하고 꼭 필요할 때 늘립니다. 강조색과</a:t>
            </a:r>
          </a:p>
          <a:p>
            <a:pPr algn="l">
              <a:lnSpc>
                <a:spcPct val="140000"/>
              </a:lnSpc>
              <a:spcBef>
                <a:spcPts val="0"/>
              </a:spcBef>
              <a:spcAft>
                <a:spcPts val="0"/>
              </a:spcAft>
              <a:defRPr sz="2100" b="0">
                <a:solidFill>
                  <a:srgbClr val="24231F"/>
                </a:solidFill>
                <a:latin typeface="Pretendard"/>
              </a:defRPr>
            </a:pPr>
            <a:r>
              <a:rPr lang="ko-KR">
                <a:ea typeface="Pretendard"/>
              </a:rPr>
              <a:t>기울임꼴은 적게 사용합니다.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28 / 39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마무리 · 08</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사람이 직접 고치는 문구</a:t>
            </a:r>
          </a:p>
        </p:txBody>
      </p:sp>
      <p:pic>
        <p:nvPicPr>
          <p:cNvPr id="4" name="figure-25-3174cc8a-c197-4be5-991d-0834d05cfc42_1456x1949" descr="figure-25-3174cc8a-c197-4be5-991d-0834d05cfc42_1456x1949.png"/>
          <p:cNvPicPr>
            <a:picLocks noChangeAspect="1"/>
          </p:cNvPicPr>
          <p:nvPr/>
        </p:nvPicPr>
        <p:blipFill>
          <a:blip r:embed="rId2"/>
          <a:srcRect/>
          <a:stretch>
            <a:fillRect/>
          </a:stretch>
        </p:blipFill>
        <p:spPr>
          <a:xfrm>
            <a:off x="11075532" y="2400300"/>
            <a:ext cx="4995185" cy="6686550"/>
          </a:xfrm>
          <a:prstGeom prst="rect">
            <a:avLst/>
          </a:prstGeom>
        </p:spPr>
      </p:pic>
      <p:sp>
        <p:nvSpPr>
          <p:cNvPr id="5" name="TextBox 4"/>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AI가 쓴 문구는 임시 글로 보고 사람이 모든 문장을 일관된 말투로 고친다.</a:t>
            </a:r>
          </a:p>
        </p:txBody>
      </p:sp>
      <p:sp>
        <p:nvSpPr>
          <p:cNvPr id="6" name="TextBox 5"/>
          <p:cNvSpPr txBox="1"/>
          <p:nvPr/>
        </p:nvSpPr>
        <p:spPr>
          <a:xfrm>
            <a:off x="914400" y="2857500"/>
            <a:ext cx="8286750" cy="3048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817A6E"/>
                </a:solidFill>
                <a:latin typeface="Pretendard"/>
              </a:defRPr>
            </a:pPr>
            <a:r>
              <a:rPr lang="ko-KR">
                <a:ea typeface="Pretendard"/>
              </a:rPr>
              <a:t>작성자가 고친 문구 · 번역 전문</a:t>
            </a:r>
          </a:p>
        </p:txBody>
      </p:sp>
      <p:sp>
        <p:nvSpPr>
          <p:cNvPr id="7" name="TextBox 6"/>
          <p:cNvSpPr txBox="1"/>
          <p:nvPr/>
        </p:nvSpPr>
        <p:spPr>
          <a:xfrm>
            <a:off x="914400" y="3333750"/>
            <a:ext cx="8286750" cy="48577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Lantern</a:t>
            </a:r>
          </a:p>
        </p:txBody>
      </p:sp>
      <p:sp>
        <p:nvSpPr>
          <p:cNvPr id="8" name="TextBox 7"/>
          <p:cNvSpPr txBox="1"/>
          <p:nvPr/>
        </p:nvSpPr>
        <p:spPr>
          <a:xfrm>
            <a:off x="914400" y="3990974"/>
            <a:ext cx="8286750" cy="48577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데이터베이스가 느린 이유를 더는 짐작하지 마세요.</a:t>
            </a:r>
          </a:p>
        </p:txBody>
      </p:sp>
      <p:sp>
        <p:nvSpPr>
          <p:cNvPr id="9" name="TextBox 8"/>
          <p:cNvSpPr txBox="1"/>
          <p:nvPr/>
        </p:nvSpPr>
        <p:spPr>
          <a:xfrm>
            <a:off x="914400" y="4648200"/>
            <a:ext cx="8286750" cy="16859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EXPLAIN ANALYZE 결과를 읽느라 오후를 허비하지 마세요.</a:t>
            </a:r>
          </a:p>
          <a:p>
            <a:pPr algn="l">
              <a:lnSpc>
                <a:spcPct val="140000"/>
              </a:lnSpc>
              <a:spcBef>
                <a:spcPts val="0"/>
              </a:spcBef>
              <a:spcAft>
                <a:spcPts val="0"/>
              </a:spcAft>
              <a:defRPr sz="2250" b="0">
                <a:solidFill>
                  <a:srgbClr val="24231F"/>
                </a:solidFill>
                <a:latin typeface="Pretendard"/>
              </a:defRPr>
            </a:pPr>
            <a:r>
              <a:rPr lang="ko-KR">
                <a:ea typeface="Pretendard"/>
              </a:rPr>
              <a:t>Lantern은 어떤 데이터베이스에도 연결할 수 있는 AI 쿼리</a:t>
            </a:r>
          </a:p>
          <a:p>
            <a:pPr algn="l">
              <a:lnSpc>
                <a:spcPct val="140000"/>
              </a:lnSpc>
              <a:spcBef>
                <a:spcPts val="0"/>
              </a:spcBef>
              <a:spcAft>
                <a:spcPts val="0"/>
              </a:spcAft>
              <a:defRPr sz="2250" b="0">
                <a:solidFill>
                  <a:srgbClr val="24231F"/>
                </a:solidFill>
                <a:latin typeface="Pretendard"/>
              </a:defRPr>
            </a:pPr>
            <a:r>
              <a:rPr lang="ko-KR">
                <a:ea typeface="Pretendard"/>
              </a:rPr>
              <a:t>분석기입니다. 성능 문제가 생기면 바로 찾고, 원인이 된 코드 줄을</a:t>
            </a:r>
          </a:p>
          <a:p>
            <a:pPr algn="l">
              <a:lnSpc>
                <a:spcPct val="140000"/>
              </a:lnSpc>
              <a:spcBef>
                <a:spcPts val="0"/>
              </a:spcBef>
              <a:spcAft>
                <a:spcPts val="0"/>
              </a:spcAft>
              <a:defRPr sz="2250" b="0">
                <a:solidFill>
                  <a:srgbClr val="24231F"/>
                </a:solidFill>
                <a:latin typeface="Pretendard"/>
              </a:defRPr>
            </a:pPr>
            <a:r>
              <a:rPr lang="ko-KR">
                <a:ea typeface="Pretendard"/>
              </a:rPr>
              <a:t>정확히 알려줍니다. 데이터를 읽지 않으며 비공개로 작동합니다.</a:t>
            </a:r>
          </a:p>
        </p:txBody>
      </p:sp>
      <p:sp>
        <p:nvSpPr>
          <p:cNvPr id="10" name="TextBox 9"/>
          <p:cNvSpPr txBox="1"/>
          <p:nvPr/>
        </p:nvSpPr>
        <p:spPr>
          <a:xfrm>
            <a:off x="914400" y="6505575"/>
            <a:ext cx="8286750" cy="885825"/>
          </a:xfrm>
          <a:prstGeom prst="rect">
            <a:avLst/>
          </a:prstGeom>
          <a:noFill/>
        </p:spPr>
        <p:txBody>
          <a:bodyPr wrap="square" lIns="0" rIns="0" tIns="0" bIns="0" anchor="t">
            <a:spAutoFit/>
          </a:bodyPr>
          <a:lstStyle/>
          <a:p>
            <a:pPr algn="l">
              <a:lnSpc>
                <a:spcPct val="140000"/>
              </a:lnSpc>
              <a:spcBef>
                <a:spcPts val="0"/>
              </a:spcBef>
              <a:spcAft>
                <a:spcPts val="0"/>
              </a:spcAft>
              <a:defRPr sz="2250" b="0">
                <a:solidFill>
                  <a:srgbClr val="24231F"/>
                </a:solidFill>
                <a:latin typeface="Pretendard"/>
              </a:defRPr>
            </a:pPr>
            <a:r>
              <a:rPr lang="ko-KR">
                <a:ea typeface="Pretendard"/>
              </a:rPr>
              <a:t>대부분의 팀은 가입한 뒤 한 시간 안에 첫 번째 주요 문제를 찾습니다. 첫</a:t>
            </a:r>
          </a:p>
          <a:p>
            <a:pPr algn="l">
              <a:lnSpc>
                <a:spcPct val="140000"/>
              </a:lnSpc>
              <a:spcBef>
                <a:spcPts val="0"/>
              </a:spcBef>
              <a:spcAft>
                <a:spcPts val="0"/>
              </a:spcAft>
              <a:defRPr sz="2250" b="0">
                <a:solidFill>
                  <a:srgbClr val="24231F"/>
                </a:solidFill>
                <a:latin typeface="Pretendard"/>
              </a:defRPr>
            </a:pPr>
            <a:r>
              <a:rPr lang="ko-KR">
                <a:ea typeface="Pretendard"/>
              </a:rPr>
              <a:t>데이터베이스를 무료로 연결해 보세요.</a:t>
            </a:r>
          </a:p>
        </p:txBody>
      </p:sp>
      <p:sp>
        <p:nvSpPr>
          <p:cNvPr id="11" name="TextBox 10"/>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2" name="TextBox 11"/>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02  여덟 가지 기법</a:t>
            </a:r>
          </a:p>
        </p:txBody>
      </p:sp>
      <p:sp>
        <p:nvSpPr>
          <p:cNvPr id="13" name="TextBox 12"/>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29 / 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1412"/>
        </a:solidFill>
        <a:effectLst/>
      </p:bgPr>
    </p:bg>
    <p:spTree>
      <p:nvGrpSpPr>
        <p:cNvPr id="1" name=""/>
        <p:cNvGrpSpPr/>
        <p:nvPr/>
      </p:nvGrpSpPr>
      <p:grpSpPr/>
      <p:sp>
        <p:nvSpPr>
          <p:cNvPr id="2" name="TextBox 1"/>
          <p:cNvSpPr txBox="1"/>
          <p:nvPr/>
        </p:nvSpPr>
        <p:spPr>
          <a:xfrm>
            <a:off x="914400" y="63246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ACA497"/>
                </a:solidFill>
                <a:latin typeface="Pretendard"/>
              </a:defRPr>
            </a:pPr>
            <a:r>
              <a:rPr lang="ko-KR">
                <a:ea typeface="Pretendard"/>
              </a:rPr>
              <a:t>03 · CLAUDE CODE</a:t>
            </a:r>
          </a:p>
        </p:txBody>
      </p:sp>
      <p:sp>
        <p:nvSpPr>
          <p:cNvPr id="3" name="TextBox 2"/>
          <p:cNvSpPr txBox="1"/>
          <p:nvPr/>
        </p:nvSpPr>
        <p:spPr>
          <a:xfrm>
            <a:off x="914400" y="6915150"/>
            <a:ext cx="8115300" cy="857250"/>
          </a:xfrm>
          <a:prstGeom prst="rect">
            <a:avLst/>
          </a:prstGeom>
          <a:noFill/>
        </p:spPr>
        <p:txBody>
          <a:bodyPr wrap="square" lIns="0" rIns="0" tIns="0" bIns="0" anchor="t">
            <a:spAutoFit/>
          </a:bodyPr>
          <a:lstStyle/>
          <a:p>
            <a:pPr algn="l">
              <a:lnSpc>
                <a:spcPct val="110000"/>
              </a:lnSpc>
              <a:spcBef>
                <a:spcPts val="0"/>
              </a:spcBef>
              <a:spcAft>
                <a:spcPts val="0"/>
              </a:spcAft>
              <a:defRPr sz="5100" b="1">
                <a:solidFill>
                  <a:srgbClr val="F6EFE2"/>
                </a:solidFill>
                <a:latin typeface="Pretendard"/>
              </a:defRPr>
            </a:pPr>
            <a:r>
              <a:rPr lang="ko-KR">
                <a:ln w="15544">
                  <a:solidFill>
                    <a:srgbClr val="F6EFE2"/>
                  </a:solidFill>
                </a:ln>
                <a:ea typeface="Pretendard"/>
              </a:rPr>
              <a:t>레퍼런스 기반의 제작 과정</a:t>
            </a:r>
          </a:p>
        </p:txBody>
      </p:sp>
      <p:pic>
        <p:nvPicPr>
          <p:cNvPr id="4" name="49-in-action-sites" descr="49-in-action-sites.png"/>
          <p:cNvPicPr>
            <a:picLocks noChangeAspect="1"/>
          </p:cNvPicPr>
          <p:nvPr/>
        </p:nvPicPr>
        <p:blipFill>
          <a:blip r:embed="rId2"/>
          <a:srcRect/>
          <a:stretch>
            <a:fillRect/>
          </a:stretch>
        </p:blipFill>
        <p:spPr>
          <a:xfrm>
            <a:off x="0" y="2369"/>
            <a:ext cx="18288000" cy="5862660"/>
          </a:xfrm>
          <a:prstGeom prst="rect">
            <a:avLst/>
          </a:prstGeom>
        </p:spPr>
      </p:pic>
      <p:sp>
        <p:nvSpPr>
          <p:cNvPr id="5" name="TextBox 4"/>
          <p:cNvSpPr txBox="1"/>
          <p:nvPr/>
        </p:nvSpPr>
        <p:spPr>
          <a:xfrm>
            <a:off x="9486900" y="7010400"/>
            <a:ext cx="1524000" cy="3429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01</a:t>
            </a:r>
          </a:p>
        </p:txBody>
      </p:sp>
      <p:sp>
        <p:nvSpPr>
          <p:cNvPr id="6" name="TextBox 5"/>
          <p:cNvSpPr txBox="1"/>
          <p:nvPr/>
        </p:nvSpPr>
        <p:spPr>
          <a:xfrm>
            <a:off x="9486900" y="7629525"/>
            <a:ext cx="1524000" cy="523874"/>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F6EFE2"/>
                </a:solidFill>
                <a:latin typeface="Pretendard"/>
              </a:defRPr>
            </a:pPr>
            <a:r>
              <a:rPr lang="ko-KR">
                <a:ea typeface="Pretendard"/>
              </a:rPr>
              <a:t>찾기</a:t>
            </a:r>
          </a:p>
        </p:txBody>
      </p:sp>
      <p:sp>
        <p:nvSpPr>
          <p:cNvPr id="7" name="TextBox 6"/>
          <p:cNvSpPr txBox="1"/>
          <p:nvPr/>
        </p:nvSpPr>
        <p:spPr>
          <a:xfrm>
            <a:off x="11582400" y="7010400"/>
            <a:ext cx="1524000" cy="3429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02</a:t>
            </a:r>
          </a:p>
        </p:txBody>
      </p:sp>
      <p:sp>
        <p:nvSpPr>
          <p:cNvPr id="8" name="TextBox 7"/>
          <p:cNvSpPr txBox="1"/>
          <p:nvPr/>
        </p:nvSpPr>
        <p:spPr>
          <a:xfrm>
            <a:off x="11582400" y="7629525"/>
            <a:ext cx="1524000" cy="523874"/>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F6EFE2"/>
                </a:solidFill>
                <a:latin typeface="Pretendard"/>
              </a:defRPr>
            </a:pPr>
            <a:r>
              <a:rPr lang="ko-KR">
                <a:ea typeface="Pretendard"/>
              </a:rPr>
              <a:t>전달</a:t>
            </a:r>
          </a:p>
        </p:txBody>
      </p:sp>
      <p:sp>
        <p:nvSpPr>
          <p:cNvPr id="9" name="TextBox 8"/>
          <p:cNvSpPr txBox="1"/>
          <p:nvPr/>
        </p:nvSpPr>
        <p:spPr>
          <a:xfrm>
            <a:off x="13677900" y="7010400"/>
            <a:ext cx="1524000" cy="3429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03</a:t>
            </a:r>
          </a:p>
        </p:txBody>
      </p:sp>
      <p:sp>
        <p:nvSpPr>
          <p:cNvPr id="10" name="TextBox 9"/>
          <p:cNvSpPr txBox="1"/>
          <p:nvPr/>
        </p:nvSpPr>
        <p:spPr>
          <a:xfrm>
            <a:off x="13677900" y="7629525"/>
            <a:ext cx="1524000" cy="523874"/>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F6EFE2"/>
                </a:solidFill>
                <a:latin typeface="Pretendard"/>
              </a:defRPr>
            </a:pPr>
            <a:r>
              <a:rPr lang="ko-KR">
                <a:ea typeface="Pretendard"/>
              </a:rPr>
              <a:t>비교</a:t>
            </a:r>
          </a:p>
        </p:txBody>
      </p:sp>
      <p:sp>
        <p:nvSpPr>
          <p:cNvPr id="11" name="TextBox 10"/>
          <p:cNvSpPr txBox="1"/>
          <p:nvPr/>
        </p:nvSpPr>
        <p:spPr>
          <a:xfrm>
            <a:off x="15773400" y="7010400"/>
            <a:ext cx="1524000" cy="342900"/>
          </a:xfrm>
          <a:prstGeom prst="rect">
            <a:avLst/>
          </a:prstGeom>
          <a:noFill/>
        </p:spPr>
        <p:txBody>
          <a:bodyPr wrap="square" lIns="0" rIns="0" tIns="0" bIns="0" anchor="t">
            <a:spAutoFit/>
          </a:bodyPr>
          <a:lstStyle/>
          <a:p>
            <a:pPr algn="l">
              <a:lnSpc>
                <a:spcPct val="118000"/>
              </a:lnSpc>
              <a:spcBef>
                <a:spcPts val="0"/>
              </a:spcBef>
              <a:spcAft>
                <a:spcPts val="0"/>
              </a:spcAft>
              <a:defRPr sz="1500" b="0">
                <a:solidFill>
                  <a:srgbClr val="ACA497"/>
                </a:solidFill>
                <a:latin typeface="Pretendard"/>
              </a:defRPr>
            </a:pPr>
            <a:r>
              <a:rPr lang="ko-KR">
                <a:ea typeface="Pretendard"/>
              </a:rPr>
              <a:t>04</a:t>
            </a:r>
          </a:p>
        </p:txBody>
      </p:sp>
      <p:sp>
        <p:nvSpPr>
          <p:cNvPr id="12" name="TextBox 11"/>
          <p:cNvSpPr txBox="1"/>
          <p:nvPr/>
        </p:nvSpPr>
        <p:spPr>
          <a:xfrm>
            <a:off x="15773400" y="7629525"/>
            <a:ext cx="1524000" cy="523874"/>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F6EFE2"/>
                </a:solidFill>
                <a:latin typeface="Pretendard"/>
              </a:defRPr>
            </a:pPr>
            <a:r>
              <a:rPr lang="ko-KR">
                <a:ea typeface="Pretendard"/>
              </a:rPr>
              <a:t>기록</a:t>
            </a:r>
          </a:p>
        </p:txBody>
      </p:sp>
      <p:sp>
        <p:nvSpPr>
          <p:cNvPr id="13" name="TextBox 12"/>
          <p:cNvSpPr txBox="1"/>
          <p:nvPr/>
        </p:nvSpPr>
        <p:spPr>
          <a:xfrm>
            <a:off x="914400" y="7905750"/>
            <a:ext cx="6477000" cy="1238250"/>
          </a:xfrm>
          <a:prstGeom prst="rect">
            <a:avLst/>
          </a:prstGeom>
          <a:noFill/>
        </p:spPr>
        <p:txBody>
          <a:bodyPr wrap="square" lIns="0" rIns="0" tIns="0" bIns="0" anchor="t">
            <a:spAutoFit/>
          </a:bodyPr>
          <a:lstStyle/>
          <a:p>
            <a:pPr algn="l">
              <a:lnSpc>
                <a:spcPct val="145000"/>
              </a:lnSpc>
              <a:spcBef>
                <a:spcPts val="0"/>
              </a:spcBef>
              <a:spcAft>
                <a:spcPts val="0"/>
              </a:spcAft>
              <a:defRPr sz="2100" b="0">
                <a:solidFill>
                  <a:srgbClr val="C3BBAE"/>
                </a:solidFill>
                <a:latin typeface="Pretendard"/>
              </a:defRPr>
            </a:pPr>
            <a:r>
              <a:rPr lang="ko-KR">
                <a:ea typeface="Pretendard"/>
              </a:rPr>
              <a:t>참고 자료와 목표를 한 프롬프트에 담고, 화면을 보며 고친다.</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ACA497"/>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ACA497"/>
                </a:solidFill>
                <a:latin typeface="Pretendard"/>
              </a:defRPr>
            </a:pPr>
            <a:r>
              <a:rPr lang="ko-KR">
                <a:ea typeface="Pretendard"/>
              </a:rPr>
              <a:t>03  Claude Code 실전</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ACA497"/>
                </a:solidFill>
                <a:latin typeface="Pretendard"/>
              </a:defRPr>
            </a:pPr>
            <a:r>
              <a:rPr lang="ko-KR">
                <a:ea typeface="Pretendard"/>
              </a:rPr>
              <a:t>30 / 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REFERENCE</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목적별 디자인 참고 자료</a:t>
            </a:r>
          </a:p>
        </p:txBody>
      </p:sp>
      <p:pic>
        <p:nvPicPr>
          <p:cNvPr id="4" name="Reference · Awwwards" descr="awwwards.png"/>
          <p:cNvPicPr>
            <a:picLocks noChangeAspect="1"/>
          </p:cNvPicPr>
          <p:nvPr/>
        </p:nvPicPr>
        <p:blipFill>
          <a:blip r:embed="rId2"/>
          <a:srcRect b="13000"/>
          <a:stretch>
            <a:fillRect/>
          </a:stretch>
        </p:blipFill>
        <p:spPr>
          <a:xfrm>
            <a:off x="915713" y="2190750"/>
            <a:ext cx="5255172" cy="2857500"/>
          </a:xfrm>
          <a:prstGeom prst="rect">
            <a:avLst/>
          </a:prstGeom>
        </p:spPr>
      </p:pic>
      <p:sp>
        <p:nvSpPr>
          <p:cNvPr id="5" name="TextBox 4"/>
          <p:cNvSpPr txBox="1"/>
          <p:nvPr/>
        </p:nvSpPr>
        <p:spPr>
          <a:xfrm>
            <a:off x="914400" y="5162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Reference · Awwwards</a:t>
            </a:r>
          </a:p>
        </p:txBody>
      </p:sp>
      <p:pic>
        <p:nvPicPr>
          <p:cNvPr id="6" name="Component · 21st.dev" descr="21stdev.png"/>
          <p:cNvPicPr>
            <a:picLocks noChangeAspect="1"/>
          </p:cNvPicPr>
          <p:nvPr/>
        </p:nvPicPr>
        <p:blipFill>
          <a:blip r:embed="rId3"/>
          <a:srcRect l="8125" t="10000" r="7500" b="16500"/>
          <a:stretch>
            <a:fillRect/>
          </a:stretch>
        </p:blipFill>
        <p:spPr>
          <a:xfrm>
            <a:off x="6519765" y="2190750"/>
            <a:ext cx="5248469" cy="2857500"/>
          </a:xfrm>
          <a:prstGeom prst="rect">
            <a:avLst/>
          </a:prstGeom>
        </p:spPr>
      </p:pic>
      <p:sp>
        <p:nvSpPr>
          <p:cNvPr id="7" name="TextBox 6"/>
          <p:cNvSpPr txBox="1"/>
          <p:nvPr/>
        </p:nvSpPr>
        <p:spPr>
          <a:xfrm>
            <a:off x="6515100" y="5162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Component · 21st.dev</a:t>
            </a:r>
          </a:p>
        </p:txBody>
      </p:sp>
      <p:pic>
        <p:nvPicPr>
          <p:cNvPr id="8" name="Font · Fonts In Use" descr="fontsinuse.png"/>
          <p:cNvPicPr>
            <a:picLocks noChangeAspect="1"/>
          </p:cNvPicPr>
          <p:nvPr/>
        </p:nvPicPr>
        <p:blipFill>
          <a:blip r:embed="rId4"/>
          <a:srcRect l="3750" t="1000" r="3750" b="18500"/>
          <a:stretch>
            <a:fillRect/>
          </a:stretch>
        </p:blipFill>
        <p:spPr>
          <a:xfrm>
            <a:off x="12117929" y="2190750"/>
            <a:ext cx="5253540" cy="2857500"/>
          </a:xfrm>
          <a:prstGeom prst="rect">
            <a:avLst/>
          </a:prstGeom>
        </p:spPr>
      </p:pic>
      <p:sp>
        <p:nvSpPr>
          <p:cNvPr id="9" name="TextBox 8"/>
          <p:cNvSpPr txBox="1"/>
          <p:nvPr/>
        </p:nvSpPr>
        <p:spPr>
          <a:xfrm>
            <a:off x="12115800" y="5162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Font · Fonts In Use</a:t>
            </a:r>
          </a:p>
        </p:txBody>
      </p:sp>
      <p:pic>
        <p:nvPicPr>
          <p:cNvPr id="10" name="Color · Coolors" descr="coolors.png"/>
          <p:cNvPicPr>
            <a:picLocks noChangeAspect="1"/>
          </p:cNvPicPr>
          <p:nvPr/>
        </p:nvPicPr>
        <p:blipFill>
          <a:blip r:embed="rId5"/>
          <a:srcRect l="3438" t="47500" r="3438" b="8500"/>
          <a:stretch>
            <a:fillRect/>
          </a:stretch>
        </p:blipFill>
        <p:spPr>
          <a:xfrm>
            <a:off x="3714750" y="6367430"/>
            <a:ext cx="5257800" cy="1552638"/>
          </a:xfrm>
          <a:prstGeom prst="rect">
            <a:avLst/>
          </a:prstGeom>
        </p:spPr>
      </p:pic>
      <p:sp>
        <p:nvSpPr>
          <p:cNvPr id="11" name="TextBox 10"/>
          <p:cNvSpPr txBox="1"/>
          <p:nvPr/>
        </p:nvSpPr>
        <p:spPr>
          <a:xfrm>
            <a:off x="3714750" y="8591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Color · Coolors</a:t>
            </a:r>
          </a:p>
        </p:txBody>
      </p:sp>
      <p:pic>
        <p:nvPicPr>
          <p:cNvPr id="12" name="System · Branding Style Guides" descr="brandingstyleguides.png"/>
          <p:cNvPicPr>
            <a:picLocks noChangeAspect="1"/>
          </p:cNvPicPr>
          <p:nvPr/>
        </p:nvPicPr>
        <p:blipFill>
          <a:blip r:embed="rId6"/>
          <a:srcRect l="3125" t="43000" r="5000" b="7000"/>
          <a:stretch>
            <a:fillRect/>
          </a:stretch>
        </p:blipFill>
        <p:spPr>
          <a:xfrm>
            <a:off x="9315450" y="6249566"/>
            <a:ext cx="5257800" cy="1788367"/>
          </a:xfrm>
          <a:prstGeom prst="rect">
            <a:avLst/>
          </a:prstGeom>
        </p:spPr>
      </p:pic>
      <p:sp>
        <p:nvSpPr>
          <p:cNvPr id="13" name="TextBox 12"/>
          <p:cNvSpPr txBox="1"/>
          <p:nvPr/>
        </p:nvSpPr>
        <p:spPr>
          <a:xfrm>
            <a:off x="9315450" y="8591550"/>
            <a:ext cx="52578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System · Branding Style Guides</a:t>
            </a:r>
          </a:p>
        </p:txBody>
      </p:sp>
      <p:sp>
        <p:nvSpPr>
          <p:cNvPr id="14" name="TextBox 13"/>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화면, 부품, 글꼴, 색, 규칙에 맞는 자료를 따로 찾는다.</a:t>
            </a:r>
          </a:p>
        </p:txBody>
      </p:sp>
      <p:sp>
        <p:nvSpPr>
          <p:cNvPr id="15" name="TextBox 14"/>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6" name="TextBox 15"/>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7" name="TextBox 16"/>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31 / 39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CAPTURE</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선호 요소와 제외 요소</a:t>
            </a:r>
          </a:p>
        </p:txBody>
      </p:sp>
      <p:pic>
        <p:nvPicPr>
          <p:cNvPr id="4" name="GoFullPage" descr="gofullpage.png"/>
          <p:cNvPicPr>
            <a:picLocks noChangeAspect="1"/>
          </p:cNvPicPr>
          <p:nvPr/>
        </p:nvPicPr>
        <p:blipFill>
          <a:blip r:embed="rId2"/>
          <a:srcRect l="14375" t="9000" r="13125" b="49800"/>
          <a:stretch>
            <a:fillRect/>
          </a:stretch>
        </p:blipFill>
        <p:spPr>
          <a:xfrm>
            <a:off x="914400" y="3048164"/>
            <a:ext cx="6381750" cy="2266621"/>
          </a:xfrm>
          <a:prstGeom prst="rect">
            <a:avLst/>
          </a:prstGeom>
        </p:spPr>
      </p:pic>
      <p:sp>
        <p:nvSpPr>
          <p:cNvPr id="5" name="TextBox 4"/>
          <p:cNvSpPr txBox="1"/>
          <p:nvPr/>
        </p:nvSpPr>
        <p:spPr>
          <a:xfrm>
            <a:off x="914400" y="5429250"/>
            <a:ext cx="63817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GoFullPage</a:t>
            </a:r>
          </a:p>
        </p:txBody>
      </p:sp>
      <p:pic>
        <p:nvPicPr>
          <p:cNvPr id="6" name="사진 ✓   색·글꼴 ×" descr="nimmobay.png"/>
          <p:cNvPicPr>
            <a:picLocks noChangeAspect="1"/>
          </p:cNvPicPr>
          <p:nvPr/>
        </p:nvPicPr>
        <p:blipFill>
          <a:blip r:embed="rId3"/>
          <a:srcRect t="4500"/>
          <a:stretch>
            <a:fillRect/>
          </a:stretch>
        </p:blipFill>
        <p:spPr>
          <a:xfrm>
            <a:off x="9106598" y="2333625"/>
            <a:ext cx="8266303" cy="4933950"/>
          </a:xfrm>
          <a:prstGeom prst="rect">
            <a:avLst/>
          </a:prstGeom>
        </p:spPr>
      </p:pic>
      <p:sp>
        <p:nvSpPr>
          <p:cNvPr id="7" name="TextBox 6"/>
          <p:cNvSpPr txBox="1"/>
          <p:nvPr/>
        </p:nvSpPr>
        <p:spPr>
          <a:xfrm>
            <a:off x="9105900" y="7381874"/>
            <a:ext cx="82676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사진 ✓   색·글꼴 ×</a:t>
            </a:r>
          </a:p>
        </p:txBody>
      </p:sp>
      <p:sp>
        <p:nvSpPr>
          <p:cNvPr id="8" name="TextBox 7"/>
          <p:cNvSpPr txBox="1"/>
          <p:nvPr/>
        </p:nvSpPr>
        <p:spPr>
          <a:xfrm>
            <a:off x="1952624" y="6334125"/>
            <a:ext cx="4572000" cy="571500"/>
          </a:xfrm>
          <a:prstGeom prst="rect">
            <a:avLst/>
          </a:prstGeom>
          <a:noFill/>
        </p:spPr>
        <p:txBody>
          <a:bodyPr wrap="square" lIns="0" rIns="0" tIns="0" bIns="0" anchor="t">
            <a:spAutoFit/>
          </a:bodyPr>
          <a:lstStyle/>
          <a:p>
            <a:pPr algn="l">
              <a:lnSpc>
                <a:spcPct val="118000"/>
              </a:lnSpc>
              <a:spcBef>
                <a:spcPts val="0"/>
              </a:spcBef>
              <a:spcAft>
                <a:spcPts val="0"/>
              </a:spcAft>
              <a:defRPr sz="3150" b="0">
                <a:solidFill>
                  <a:srgbClr val="756F65"/>
                </a:solidFill>
                <a:latin typeface="Pretendard"/>
              </a:defRPr>
            </a:pPr>
            <a:r>
              <a:rPr lang="ko-KR">
                <a:ea typeface="Pretendard"/>
              </a:rPr>
              <a:t>ref/site1.png</a:t>
            </a:r>
          </a:p>
        </p:txBody>
      </p:sp>
      <p:sp>
        <p:nvSpPr>
          <p:cNvPr id="9" name="TextBox 8"/>
          <p:cNvSpPr txBox="1"/>
          <p:nvPr/>
        </p:nvSpPr>
        <p:spPr>
          <a:xfrm>
            <a:off x="7667624" y="4524375"/>
            <a:ext cx="952500" cy="9525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10" name="TextBox 9"/>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이미지 경로와 함께 좋아하는 점과 피할 점을 적는다.</a:t>
            </a:r>
          </a:p>
        </p:txBody>
      </p:sp>
      <p:sp>
        <p:nvSpPr>
          <p:cNvPr id="11" name="TextBox 10"/>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2" name="TextBox 11"/>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3" name="TextBox 12"/>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32 / 39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SOUTHSIDE BREWING</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모션 그래픽 응용</a:t>
            </a:r>
          </a:p>
        </p:txBody>
      </p:sp>
      <p:pic>
        <p:nvPicPr>
          <p:cNvPr id="4" name="Oryzo" descr="oryzo-2.png"/>
          <p:cNvPicPr>
            <a:picLocks noChangeAspect="1"/>
          </p:cNvPicPr>
          <p:nvPr/>
        </p:nvPicPr>
        <p:blipFill>
          <a:blip r:embed="rId2"/>
          <a:srcRect/>
          <a:stretch>
            <a:fillRect/>
          </a:stretch>
        </p:blipFill>
        <p:spPr>
          <a:xfrm>
            <a:off x="916304" y="2762250"/>
            <a:ext cx="7330440" cy="4581525"/>
          </a:xfrm>
          <a:prstGeom prst="rect">
            <a:avLst/>
          </a:prstGeom>
        </p:spPr>
      </p:pic>
      <p:sp>
        <p:nvSpPr>
          <p:cNvPr id="5" name="TextBox 4"/>
          <p:cNvSpPr txBox="1"/>
          <p:nvPr/>
        </p:nvSpPr>
        <p:spPr>
          <a:xfrm>
            <a:off x="914400" y="7458075"/>
            <a:ext cx="73342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Oryzo</a:t>
            </a:r>
          </a:p>
        </p:txBody>
      </p:sp>
      <p:pic>
        <p:nvPicPr>
          <p:cNvPr id="6" name="Southside Brewing" descr="51-southside-brewing.png"/>
          <p:cNvPicPr>
            <a:picLocks noChangeAspect="1"/>
          </p:cNvPicPr>
          <p:nvPr/>
        </p:nvPicPr>
        <p:blipFill>
          <a:blip r:embed="rId3"/>
          <a:srcRect/>
          <a:stretch>
            <a:fillRect/>
          </a:stretch>
        </p:blipFill>
        <p:spPr>
          <a:xfrm>
            <a:off x="9334500" y="2668913"/>
            <a:ext cx="8039099" cy="4787247"/>
          </a:xfrm>
          <a:prstGeom prst="rect">
            <a:avLst/>
          </a:prstGeom>
        </p:spPr>
      </p:pic>
      <p:sp>
        <p:nvSpPr>
          <p:cNvPr id="7" name="TextBox 6"/>
          <p:cNvSpPr txBox="1"/>
          <p:nvPr/>
        </p:nvSpPr>
        <p:spPr>
          <a:xfrm>
            <a:off x="9334500" y="7572375"/>
            <a:ext cx="8039099"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Southside Brewing</a:t>
            </a:r>
          </a:p>
        </p:txBody>
      </p:sp>
      <p:sp>
        <p:nvSpPr>
          <p:cNvPr id="8" name="TextBox 7"/>
          <p:cNvSpPr txBox="1"/>
          <p:nvPr/>
        </p:nvSpPr>
        <p:spPr>
          <a:xfrm>
            <a:off x="8505825" y="4600575"/>
            <a:ext cx="619125" cy="7620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9" name="TextBox 8"/>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참고 사이트의 모션 효과를 타겟 사이트에 맞게 바꾼다.</a:t>
            </a:r>
          </a:p>
        </p:txBody>
      </p:sp>
      <p:sp>
        <p:nvSpPr>
          <p:cNvPr id="10" name="TextBox 9"/>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1" name="TextBox 10"/>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2" name="TextBox 11"/>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33 / 39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HARBOUR LANE COFFEE</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영상, 색, 카드 콘텐츠</a:t>
            </a:r>
          </a:p>
        </p:txBody>
      </p:sp>
      <p:pic>
        <p:nvPicPr>
          <p:cNvPr id="4" name="영상 · Café Technica" descr="cafetechnica-2.png"/>
          <p:cNvPicPr>
            <a:picLocks noChangeAspect="1"/>
          </p:cNvPicPr>
          <p:nvPr/>
        </p:nvPicPr>
        <p:blipFill>
          <a:blip r:embed="rId2"/>
          <a:srcRect l="16250" r="10000" b="10000"/>
          <a:stretch>
            <a:fillRect/>
          </a:stretch>
        </p:blipFill>
        <p:spPr>
          <a:xfrm>
            <a:off x="955674" y="3190875"/>
            <a:ext cx="4870450" cy="3714750"/>
          </a:xfrm>
          <a:prstGeom prst="rect">
            <a:avLst/>
          </a:prstGeom>
        </p:spPr>
      </p:pic>
      <p:sp>
        <p:nvSpPr>
          <p:cNvPr id="5" name="TextBox 4"/>
          <p:cNvSpPr txBox="1"/>
          <p:nvPr/>
        </p:nvSpPr>
        <p:spPr>
          <a:xfrm>
            <a:off x="914400" y="7019925"/>
            <a:ext cx="49530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영상 · Café Technica</a:t>
            </a:r>
          </a:p>
        </p:txBody>
      </p:sp>
      <p:pic>
        <p:nvPicPr>
          <p:cNvPr id="6" name="색·카드 · La Colombe" descr="lacolombe-2.png"/>
          <p:cNvPicPr>
            <a:picLocks noChangeAspect="1"/>
          </p:cNvPicPr>
          <p:nvPr/>
        </p:nvPicPr>
        <p:blipFill>
          <a:blip r:embed="rId3"/>
          <a:srcRect l="1250" t="22000" r="50625" b="21000"/>
          <a:stretch>
            <a:fillRect/>
          </a:stretch>
        </p:blipFill>
        <p:spPr>
          <a:xfrm>
            <a:off x="6191250" y="3214996"/>
            <a:ext cx="4953000" cy="3666506"/>
          </a:xfrm>
          <a:prstGeom prst="rect">
            <a:avLst/>
          </a:prstGeom>
        </p:spPr>
      </p:pic>
      <p:sp>
        <p:nvSpPr>
          <p:cNvPr id="7" name="TextBox 6"/>
          <p:cNvSpPr txBox="1"/>
          <p:nvPr/>
        </p:nvSpPr>
        <p:spPr>
          <a:xfrm>
            <a:off x="6191250" y="7019925"/>
            <a:ext cx="49530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색·카드 · La Colombe</a:t>
            </a:r>
          </a:p>
        </p:txBody>
      </p:sp>
      <p:pic>
        <p:nvPicPr>
          <p:cNvPr id="8" name="Harbour Lane" descr="50-harbour-lane.png"/>
          <p:cNvPicPr>
            <a:picLocks noChangeAspect="1"/>
          </p:cNvPicPr>
          <p:nvPr/>
        </p:nvPicPr>
        <p:blipFill>
          <a:blip r:embed="rId4"/>
          <a:srcRect/>
          <a:stretch>
            <a:fillRect/>
          </a:stretch>
        </p:blipFill>
        <p:spPr>
          <a:xfrm>
            <a:off x="12515850" y="2857500"/>
            <a:ext cx="4857750" cy="4305300"/>
          </a:xfrm>
          <a:prstGeom prst="rect">
            <a:avLst/>
          </a:prstGeom>
        </p:spPr>
      </p:pic>
      <p:sp>
        <p:nvSpPr>
          <p:cNvPr id="9" name="TextBox 8"/>
          <p:cNvSpPr txBox="1"/>
          <p:nvPr/>
        </p:nvSpPr>
        <p:spPr>
          <a:xfrm>
            <a:off x="12515850" y="7277100"/>
            <a:ext cx="48577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Harbour Lane</a:t>
            </a:r>
          </a:p>
        </p:txBody>
      </p:sp>
      <p:sp>
        <p:nvSpPr>
          <p:cNvPr id="10" name="TextBox 9"/>
          <p:cNvSpPr txBox="1"/>
          <p:nvPr/>
        </p:nvSpPr>
        <p:spPr>
          <a:xfrm>
            <a:off x="11525250" y="4648200"/>
            <a:ext cx="666750" cy="7620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11" name="TextBox 10"/>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영상, 색, 카드 레퍼런스로 콘텐츠에 적용한다.</a:t>
            </a:r>
          </a:p>
        </p:txBody>
      </p:sp>
      <p:sp>
        <p:nvSpPr>
          <p:cNvPr id="12" name="TextBox 11"/>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3" name="TextBox 12"/>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4" name="TextBox 13"/>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34 / 39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BLACKWATER CABINS</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사진, 분위기, 여백 조합의 콘텐츠</a:t>
            </a:r>
          </a:p>
        </p:txBody>
      </p:sp>
      <p:pic>
        <p:nvPicPr>
          <p:cNvPr id="4" name="사진 · Nimmo Bay" descr="nimmobay.png"/>
          <p:cNvPicPr>
            <a:picLocks noChangeAspect="1"/>
          </p:cNvPicPr>
          <p:nvPr/>
        </p:nvPicPr>
        <p:blipFill>
          <a:blip r:embed="rId2"/>
          <a:srcRect t="4500"/>
          <a:stretch>
            <a:fillRect/>
          </a:stretch>
        </p:blipFill>
        <p:spPr>
          <a:xfrm>
            <a:off x="914798" y="2190750"/>
            <a:ext cx="4723602" cy="2819400"/>
          </a:xfrm>
          <a:prstGeom prst="rect">
            <a:avLst/>
          </a:prstGeom>
        </p:spPr>
      </p:pic>
      <p:sp>
        <p:nvSpPr>
          <p:cNvPr id="5" name="TextBox 4"/>
          <p:cNvSpPr txBox="1"/>
          <p:nvPr/>
        </p:nvSpPr>
        <p:spPr>
          <a:xfrm>
            <a:off x="914400" y="5124450"/>
            <a:ext cx="47244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사진 · Nimmo Bay</a:t>
            </a:r>
          </a:p>
        </p:txBody>
      </p:sp>
      <p:pic>
        <p:nvPicPr>
          <p:cNvPr id="6" name="분위기 · Vipp" descr="vipp-2.png"/>
          <p:cNvPicPr>
            <a:picLocks noChangeAspect="1"/>
          </p:cNvPicPr>
          <p:nvPr/>
        </p:nvPicPr>
        <p:blipFill>
          <a:blip r:embed="rId3"/>
          <a:srcRect t="4300" b="10700"/>
          <a:stretch>
            <a:fillRect/>
          </a:stretch>
        </p:blipFill>
        <p:spPr>
          <a:xfrm>
            <a:off x="5943600" y="2345531"/>
            <a:ext cx="4724400" cy="2509837"/>
          </a:xfrm>
          <a:prstGeom prst="rect">
            <a:avLst/>
          </a:prstGeom>
        </p:spPr>
      </p:pic>
      <p:sp>
        <p:nvSpPr>
          <p:cNvPr id="7" name="TextBox 6"/>
          <p:cNvSpPr txBox="1"/>
          <p:nvPr/>
        </p:nvSpPr>
        <p:spPr>
          <a:xfrm>
            <a:off x="5943600" y="5124450"/>
            <a:ext cx="47244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분위기 · Vipp</a:t>
            </a:r>
          </a:p>
        </p:txBody>
      </p:sp>
      <p:pic>
        <p:nvPicPr>
          <p:cNvPr id="8" name="여백 · Amangiri" descr="amangiri-2.png"/>
          <p:cNvPicPr>
            <a:picLocks noChangeAspect="1"/>
          </p:cNvPicPr>
          <p:nvPr/>
        </p:nvPicPr>
        <p:blipFill>
          <a:blip r:embed="rId4"/>
          <a:srcRect l="5000" t="16000" r="4375" b="43000"/>
          <a:stretch>
            <a:fillRect/>
          </a:stretch>
        </p:blipFill>
        <p:spPr>
          <a:xfrm>
            <a:off x="914400" y="5907667"/>
            <a:ext cx="9753600" cy="2757914"/>
          </a:xfrm>
          <a:prstGeom prst="rect">
            <a:avLst/>
          </a:prstGeom>
        </p:spPr>
      </p:pic>
      <p:sp>
        <p:nvSpPr>
          <p:cNvPr id="9" name="TextBox 8"/>
          <p:cNvSpPr txBox="1"/>
          <p:nvPr/>
        </p:nvSpPr>
        <p:spPr>
          <a:xfrm>
            <a:off x="914400" y="8782050"/>
            <a:ext cx="97536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여백 · Amangiri</a:t>
            </a:r>
          </a:p>
        </p:txBody>
      </p:sp>
      <p:pic>
        <p:nvPicPr>
          <p:cNvPr id="10" name="Blackwater Cabins" descr="52-blackwater-cabins.png"/>
          <p:cNvPicPr>
            <a:picLocks noChangeAspect="1"/>
          </p:cNvPicPr>
          <p:nvPr/>
        </p:nvPicPr>
        <p:blipFill>
          <a:blip r:embed="rId5"/>
          <a:srcRect/>
          <a:stretch>
            <a:fillRect/>
          </a:stretch>
        </p:blipFill>
        <p:spPr>
          <a:xfrm>
            <a:off x="12620625" y="3290214"/>
            <a:ext cx="4705350" cy="4039946"/>
          </a:xfrm>
          <a:prstGeom prst="rect">
            <a:avLst/>
          </a:prstGeom>
        </p:spPr>
      </p:pic>
      <p:sp>
        <p:nvSpPr>
          <p:cNvPr id="11" name="TextBox 10"/>
          <p:cNvSpPr txBox="1"/>
          <p:nvPr/>
        </p:nvSpPr>
        <p:spPr>
          <a:xfrm>
            <a:off x="12620625" y="7448550"/>
            <a:ext cx="47053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Blackwater Cabins</a:t>
            </a:r>
          </a:p>
        </p:txBody>
      </p:sp>
      <p:sp>
        <p:nvSpPr>
          <p:cNvPr id="12" name="TextBox 11"/>
          <p:cNvSpPr txBox="1"/>
          <p:nvPr/>
        </p:nvSpPr>
        <p:spPr>
          <a:xfrm>
            <a:off x="11239500" y="4667250"/>
            <a:ext cx="762000" cy="76200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13" name="TextBox 12"/>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사진과 분위기, 카드의 여백을 각각 골라 콘텐츠를 만든다.</a:t>
            </a:r>
          </a:p>
        </p:txBody>
      </p:sp>
      <p:sp>
        <p:nvSpPr>
          <p:cNvPr id="14" name="TextBox 13"/>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5" name="TextBox 14"/>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6" name="TextBox 15"/>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35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SETUP</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제작과 검증 환경</a:t>
            </a:r>
          </a:p>
        </p:txBody>
      </p:sp>
      <p:sp>
        <p:nvSpPr>
          <p:cNvPr id="4" name="Rectangle 3"/>
          <p:cNvSpPr/>
          <p:nvPr/>
        </p:nvSpPr>
        <p:spPr>
          <a:xfrm>
            <a:off x="12001500" y="2619375"/>
            <a:ext cx="5372100" cy="1333500"/>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12001500" y="4619625"/>
            <a:ext cx="5372100" cy="1333500"/>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12001500" y="6619875"/>
            <a:ext cx="5372100" cy="1333500"/>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7" name="frontend-design" descr="frontenddesign.png"/>
          <p:cNvPicPr>
            <a:picLocks noChangeAspect="1"/>
          </p:cNvPicPr>
          <p:nvPr/>
        </p:nvPicPr>
        <p:blipFill>
          <a:blip r:embed="rId2"/>
          <a:srcRect b="23500"/>
          <a:stretch>
            <a:fillRect/>
          </a:stretch>
        </p:blipFill>
        <p:spPr>
          <a:xfrm>
            <a:off x="934632" y="2714625"/>
            <a:ext cx="9960784" cy="4762500"/>
          </a:xfrm>
          <a:prstGeom prst="rect">
            <a:avLst/>
          </a:prstGeom>
        </p:spPr>
      </p:pic>
      <p:sp>
        <p:nvSpPr>
          <p:cNvPr id="8" name="TextBox 7"/>
          <p:cNvSpPr txBox="1"/>
          <p:nvPr/>
        </p:nvSpPr>
        <p:spPr>
          <a:xfrm>
            <a:off x="914400" y="7591425"/>
            <a:ext cx="100012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frontend-design</a:t>
            </a:r>
          </a:p>
        </p:txBody>
      </p:sp>
      <p:sp>
        <p:nvSpPr>
          <p:cNvPr id="9" name="TextBox 8"/>
          <p:cNvSpPr txBox="1"/>
          <p:nvPr/>
        </p:nvSpPr>
        <p:spPr>
          <a:xfrm>
            <a:off x="12573000" y="2981325"/>
            <a:ext cx="4190999" cy="619125"/>
          </a:xfrm>
          <a:prstGeom prst="rect">
            <a:avLst/>
          </a:prstGeom>
          <a:noFill/>
        </p:spPr>
        <p:txBody>
          <a:bodyPr wrap="square" lIns="0" rIns="0" tIns="0" bIns="0" anchor="t">
            <a:spAutoFit/>
          </a:bodyPr>
          <a:lstStyle/>
          <a:p>
            <a:pPr algn="l">
              <a:lnSpc>
                <a:spcPct val="118000"/>
              </a:lnSpc>
              <a:spcBef>
                <a:spcPts val="0"/>
              </a:spcBef>
              <a:spcAft>
                <a:spcPts val="0"/>
              </a:spcAft>
              <a:defRPr sz="3300" b="0">
                <a:solidFill>
                  <a:srgbClr val="756F65"/>
                </a:solidFill>
                <a:latin typeface="Pretendard"/>
              </a:defRPr>
            </a:pPr>
            <a:r>
              <a:rPr lang="ko-KR">
                <a:ea typeface="Pretendard"/>
              </a:rPr>
              <a:t>Opus</a:t>
            </a:r>
          </a:p>
        </p:txBody>
      </p:sp>
      <p:sp>
        <p:nvSpPr>
          <p:cNvPr id="10" name="TextBox 9"/>
          <p:cNvSpPr txBox="1"/>
          <p:nvPr/>
        </p:nvSpPr>
        <p:spPr>
          <a:xfrm>
            <a:off x="12573000" y="4981575"/>
            <a:ext cx="4190999" cy="619125"/>
          </a:xfrm>
          <a:prstGeom prst="rect">
            <a:avLst/>
          </a:prstGeom>
          <a:noFill/>
        </p:spPr>
        <p:txBody>
          <a:bodyPr wrap="square" lIns="0" rIns="0" tIns="0" bIns="0" anchor="t">
            <a:spAutoFit/>
          </a:bodyPr>
          <a:lstStyle/>
          <a:p>
            <a:pPr algn="l">
              <a:lnSpc>
                <a:spcPct val="118000"/>
              </a:lnSpc>
              <a:spcBef>
                <a:spcPts val="0"/>
              </a:spcBef>
              <a:spcAft>
                <a:spcPts val="0"/>
              </a:spcAft>
              <a:defRPr sz="3300" b="0">
                <a:solidFill>
                  <a:srgbClr val="756F65"/>
                </a:solidFill>
                <a:latin typeface="Pretendard"/>
              </a:defRPr>
            </a:pPr>
            <a:r>
              <a:rPr lang="ko-KR">
                <a:ea typeface="Pretendard"/>
              </a:rPr>
              <a:t>Playwright</a:t>
            </a:r>
          </a:p>
        </p:txBody>
      </p:sp>
      <p:sp>
        <p:nvSpPr>
          <p:cNvPr id="11" name="TextBox 10"/>
          <p:cNvSpPr txBox="1"/>
          <p:nvPr/>
        </p:nvSpPr>
        <p:spPr>
          <a:xfrm>
            <a:off x="12573000" y="6981825"/>
            <a:ext cx="4190999" cy="619125"/>
          </a:xfrm>
          <a:prstGeom prst="rect">
            <a:avLst/>
          </a:prstGeom>
          <a:noFill/>
        </p:spPr>
        <p:txBody>
          <a:bodyPr wrap="square" lIns="0" rIns="0" tIns="0" bIns="0" anchor="t">
            <a:spAutoFit/>
          </a:bodyPr>
          <a:lstStyle/>
          <a:p>
            <a:pPr algn="l">
              <a:lnSpc>
                <a:spcPct val="118000"/>
              </a:lnSpc>
              <a:spcBef>
                <a:spcPts val="0"/>
              </a:spcBef>
              <a:spcAft>
                <a:spcPts val="0"/>
              </a:spcAft>
              <a:defRPr sz="3300" b="0">
                <a:solidFill>
                  <a:srgbClr val="756F65"/>
                </a:solidFill>
                <a:latin typeface="Pretendard"/>
              </a:defRPr>
            </a:pPr>
            <a:r>
              <a:rPr lang="ko-KR">
                <a:ea typeface="Pretendard"/>
              </a:rPr>
              <a:t>ref/</a:t>
            </a:r>
          </a:p>
        </p:txBody>
      </p:sp>
      <p:sp>
        <p:nvSpPr>
          <p:cNvPr id="12" name="TextBox 11"/>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디자인 스킬과 Opus, 화면을 확인할 브라우저를 준비한다.</a:t>
            </a:r>
          </a:p>
        </p:txBody>
      </p:sp>
      <p:sp>
        <p:nvSpPr>
          <p:cNvPr id="13" name="TextBox 12"/>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4" name="TextBox 13"/>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5" name="TextBox 14"/>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36 / 39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VERIFY</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실제 화면의 비교와 평가</a:t>
            </a:r>
          </a:p>
        </p:txBody>
      </p:sp>
      <p:pic>
        <p:nvPicPr>
          <p:cNvPr id="4" name="참고 화면" descr="oryzo-2.png"/>
          <p:cNvPicPr>
            <a:picLocks noChangeAspect="1"/>
          </p:cNvPicPr>
          <p:nvPr/>
        </p:nvPicPr>
        <p:blipFill>
          <a:blip r:embed="rId2"/>
          <a:srcRect/>
          <a:stretch>
            <a:fillRect/>
          </a:stretch>
        </p:blipFill>
        <p:spPr>
          <a:xfrm>
            <a:off x="918210" y="2190750"/>
            <a:ext cx="7421879" cy="4638675"/>
          </a:xfrm>
          <a:prstGeom prst="rect">
            <a:avLst/>
          </a:prstGeom>
        </p:spPr>
      </p:pic>
      <p:sp>
        <p:nvSpPr>
          <p:cNvPr id="5" name="TextBox 4"/>
          <p:cNvSpPr txBox="1"/>
          <p:nvPr/>
        </p:nvSpPr>
        <p:spPr>
          <a:xfrm>
            <a:off x="914400" y="6943725"/>
            <a:ext cx="74295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참고 화면</a:t>
            </a:r>
          </a:p>
        </p:txBody>
      </p:sp>
      <p:pic>
        <p:nvPicPr>
          <p:cNvPr id="6" name="결과 화면" descr="51-southside-brewing.png"/>
          <p:cNvPicPr>
            <a:picLocks noChangeAspect="1"/>
          </p:cNvPicPr>
          <p:nvPr/>
        </p:nvPicPr>
        <p:blipFill>
          <a:blip r:embed="rId3"/>
          <a:srcRect/>
          <a:stretch>
            <a:fillRect/>
          </a:stretch>
        </p:blipFill>
        <p:spPr>
          <a:xfrm>
            <a:off x="9944100" y="2193195"/>
            <a:ext cx="7429500" cy="4424233"/>
          </a:xfrm>
          <a:prstGeom prst="rect">
            <a:avLst/>
          </a:prstGeom>
        </p:spPr>
      </p:pic>
      <p:sp>
        <p:nvSpPr>
          <p:cNvPr id="7" name="TextBox 6"/>
          <p:cNvSpPr txBox="1"/>
          <p:nvPr/>
        </p:nvSpPr>
        <p:spPr>
          <a:xfrm>
            <a:off x="9944100" y="6734175"/>
            <a:ext cx="742950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결과 화면</a:t>
            </a:r>
          </a:p>
        </p:txBody>
      </p:sp>
      <p:sp>
        <p:nvSpPr>
          <p:cNvPr id="8" name="TextBox 7"/>
          <p:cNvSpPr txBox="1"/>
          <p:nvPr/>
        </p:nvSpPr>
        <p:spPr>
          <a:xfrm>
            <a:off x="8810625" y="4143375"/>
            <a:ext cx="714375" cy="857250"/>
          </a:xfrm>
          <a:prstGeom prst="rect">
            <a:avLst/>
          </a:prstGeom>
          <a:noFill/>
        </p:spPr>
        <p:txBody>
          <a:bodyPr wrap="square" lIns="0" rIns="0" tIns="0" bIns="0" anchor="t">
            <a:spAutoFit/>
          </a:bodyPr>
          <a:lstStyle/>
          <a:p>
            <a:pPr algn="l">
              <a:lnSpc>
                <a:spcPct val="118000"/>
              </a:lnSpc>
              <a:spcBef>
                <a:spcPts val="0"/>
              </a:spcBef>
              <a:spcAft>
                <a:spcPts val="0"/>
              </a:spcAft>
              <a:defRPr sz="4500" b="0">
                <a:solidFill>
                  <a:srgbClr val="756F65"/>
                </a:solidFill>
                <a:latin typeface="Pretendard"/>
              </a:defRPr>
            </a:pPr>
            <a:r>
              <a:rPr lang="ko-KR">
                <a:ea typeface="Pretendard"/>
              </a:rPr>
              <a:t>↔</a:t>
            </a:r>
          </a:p>
        </p:txBody>
      </p:sp>
      <p:sp>
        <p:nvSpPr>
          <p:cNvPr id="9" name="TextBox 8"/>
          <p:cNvSpPr txBox="1"/>
          <p:nvPr/>
        </p:nvSpPr>
        <p:spPr>
          <a:xfrm>
            <a:off x="1333500" y="8134350"/>
            <a:ext cx="171450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제작</a:t>
            </a:r>
          </a:p>
        </p:txBody>
      </p:sp>
      <p:sp>
        <p:nvSpPr>
          <p:cNvPr id="10" name="TextBox 9"/>
          <p:cNvSpPr txBox="1"/>
          <p:nvPr/>
        </p:nvSpPr>
        <p:spPr>
          <a:xfrm>
            <a:off x="3238500" y="8134350"/>
            <a:ext cx="66675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a:t>
            </a:r>
          </a:p>
        </p:txBody>
      </p:sp>
      <p:sp>
        <p:nvSpPr>
          <p:cNvPr id="11" name="TextBox 10"/>
          <p:cNvSpPr txBox="1"/>
          <p:nvPr/>
        </p:nvSpPr>
        <p:spPr>
          <a:xfrm>
            <a:off x="4381500" y="8134350"/>
            <a:ext cx="171450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캡처</a:t>
            </a:r>
          </a:p>
        </p:txBody>
      </p:sp>
      <p:sp>
        <p:nvSpPr>
          <p:cNvPr id="12" name="TextBox 11"/>
          <p:cNvSpPr txBox="1"/>
          <p:nvPr/>
        </p:nvSpPr>
        <p:spPr>
          <a:xfrm>
            <a:off x="6286500" y="8134350"/>
            <a:ext cx="66675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a:t>
            </a:r>
          </a:p>
        </p:txBody>
      </p:sp>
      <p:sp>
        <p:nvSpPr>
          <p:cNvPr id="13" name="TextBox 12"/>
          <p:cNvSpPr txBox="1"/>
          <p:nvPr/>
        </p:nvSpPr>
        <p:spPr>
          <a:xfrm>
            <a:off x="7429500" y="8134350"/>
            <a:ext cx="171450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평가</a:t>
            </a:r>
          </a:p>
        </p:txBody>
      </p:sp>
      <p:sp>
        <p:nvSpPr>
          <p:cNvPr id="14" name="TextBox 13"/>
          <p:cNvSpPr txBox="1"/>
          <p:nvPr/>
        </p:nvSpPr>
        <p:spPr>
          <a:xfrm>
            <a:off x="9334500" y="8134350"/>
            <a:ext cx="66675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a:t>
            </a:r>
          </a:p>
        </p:txBody>
      </p:sp>
      <p:sp>
        <p:nvSpPr>
          <p:cNvPr id="15" name="TextBox 14"/>
          <p:cNvSpPr txBox="1"/>
          <p:nvPr/>
        </p:nvSpPr>
        <p:spPr>
          <a:xfrm>
            <a:off x="10477500" y="8134350"/>
            <a:ext cx="1714500" cy="619125"/>
          </a:xfrm>
          <a:prstGeom prst="rect">
            <a:avLst/>
          </a:prstGeom>
          <a:noFill/>
        </p:spPr>
        <p:txBody>
          <a:bodyPr wrap="square" lIns="0" rIns="0" tIns="0" bIns="0" anchor="t">
            <a:spAutoFit/>
          </a:bodyPr>
          <a:lstStyle/>
          <a:p>
            <a:pPr algn="l">
              <a:lnSpc>
                <a:spcPct val="118000"/>
              </a:lnSpc>
              <a:spcBef>
                <a:spcPts val="0"/>
              </a:spcBef>
              <a:spcAft>
                <a:spcPts val="0"/>
              </a:spcAft>
              <a:defRPr sz="2850" b="0">
                <a:solidFill>
                  <a:srgbClr val="756F65"/>
                </a:solidFill>
                <a:latin typeface="Pretendard"/>
              </a:defRPr>
            </a:pPr>
            <a:r>
              <a:rPr lang="ko-KR">
                <a:ea typeface="Pretendard"/>
              </a:rPr>
              <a:t>수정</a:t>
            </a:r>
          </a:p>
        </p:txBody>
      </p:sp>
      <p:sp>
        <p:nvSpPr>
          <p:cNvPr id="16" name="TextBox 15"/>
          <p:cNvSpPr txBox="1"/>
          <p:nvPr/>
        </p:nvSpPr>
        <p:spPr>
          <a:xfrm>
            <a:off x="13382625" y="8162925"/>
            <a:ext cx="4000500" cy="571500"/>
          </a:xfrm>
          <a:prstGeom prst="rect">
            <a:avLst/>
          </a:prstGeom>
          <a:noFill/>
        </p:spPr>
        <p:txBody>
          <a:bodyPr wrap="square" lIns="0" rIns="0" tIns="0" bIns="0" anchor="t">
            <a:spAutoFit/>
          </a:bodyPr>
          <a:lstStyle/>
          <a:p>
            <a:pPr algn="l">
              <a:lnSpc>
                <a:spcPct val="118000"/>
              </a:lnSpc>
              <a:spcBef>
                <a:spcPts val="0"/>
              </a:spcBef>
              <a:spcAft>
                <a:spcPts val="0"/>
              </a:spcAft>
              <a:defRPr sz="2400" b="0">
                <a:solidFill>
                  <a:srgbClr val="756F65"/>
                </a:solidFill>
                <a:latin typeface="Pretendard"/>
              </a:defRPr>
            </a:pPr>
            <a:r>
              <a:rPr lang="ko-KR">
                <a:ea typeface="Pretendard"/>
              </a:rPr>
              <a:t>1440 px / 390 px</a:t>
            </a:r>
          </a:p>
        </p:txBody>
      </p:sp>
      <p:sp>
        <p:nvSpPr>
          <p:cNvPr id="17" name="TextBox 16"/>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제작자와 평가자를 나누고, 실제 화면에서 가장 큰 차이를 고친다.</a:t>
            </a:r>
          </a:p>
        </p:txBody>
      </p:sp>
      <p:sp>
        <p:nvSpPr>
          <p:cNvPr id="18" name="TextBox 17"/>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9" name="TextBox 18"/>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20" name="TextBox 19"/>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37 / 39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EFE2"/>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r>
              <a:rPr lang="ko-KR">
                <a:ea typeface="Pretendard"/>
              </a:rPr>
              <a:t>03 · DESIGN SYSTEM</a:t>
            </a: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r>
              <a:rPr lang="ko-KR">
                <a:ln w="15544">
                  <a:solidFill>
                    <a:srgbClr val="24231F"/>
                  </a:solidFill>
                </a:ln>
                <a:ea typeface="Pretendard"/>
              </a:rPr>
              <a:t>디자인 시스템의 기록과 재사용</a:t>
            </a:r>
          </a:p>
        </p:txBody>
      </p:sp>
      <p:sp>
        <p:nvSpPr>
          <p:cNvPr id="4" name="Rectangle 3"/>
          <p:cNvSpPr/>
          <p:nvPr/>
        </p:nvSpPr>
        <p:spPr>
          <a:xfrm>
            <a:off x="12477750" y="2667000"/>
            <a:ext cx="4572000" cy="5286375"/>
          </a:xfrm>
          <a:prstGeom prst="rect">
            <a:avLst/>
          </a:prstGeom>
          <a:solidFill>
            <a:srgbClr val="EFE6D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13001625" y="4143375"/>
            <a:ext cx="1028700" cy="876300"/>
          </a:xfrm>
          <a:prstGeom prst="rect">
            <a:avLst/>
          </a:prstGeom>
          <a:solidFill>
            <a:srgbClr val="242424"/>
          </a:solidFill>
          <a:ln w="19050">
            <a:solidFill>
              <a:srgbClr val="24242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14144625" y="4143375"/>
            <a:ext cx="1028700" cy="876300"/>
          </a:xfrm>
          <a:prstGeom prst="rect">
            <a:avLst/>
          </a:prstGeom>
          <a:solidFill>
            <a:srgbClr val="F5F1E6"/>
          </a:solidFill>
          <a:ln w="19050">
            <a:solidFill>
              <a:srgbClr val="D8D6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15287625" y="4143375"/>
            <a:ext cx="1028700" cy="876300"/>
          </a:xfrm>
          <a:prstGeom prst="rect">
            <a:avLst/>
          </a:prstGeom>
          <a:solidFill>
            <a:srgbClr val="BD7F36"/>
          </a:solidFill>
          <a:ln w="19050">
            <a:solidFill>
              <a:srgbClr val="BD7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13001625" y="6419850"/>
            <a:ext cx="3314700" cy="47625"/>
          </a:xfrm>
          <a:prstGeom prst="rect">
            <a:avLst/>
          </a:prstGeom>
          <a:solidFill>
            <a:srgbClr val="BEBEB8"/>
          </a:solidFill>
          <a:ln w="19050">
            <a:solidFill>
              <a:srgbClr val="BEBE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3001625" y="6705600"/>
            <a:ext cx="2438400" cy="47625"/>
          </a:xfrm>
          <a:prstGeom prst="rect">
            <a:avLst/>
          </a:prstGeom>
          <a:solidFill>
            <a:srgbClr val="BEBEB8"/>
          </a:solidFill>
          <a:ln w="19050">
            <a:solidFill>
              <a:srgbClr val="BEBE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3001625" y="6991350"/>
            <a:ext cx="2952750" cy="47625"/>
          </a:xfrm>
          <a:prstGeom prst="rect">
            <a:avLst/>
          </a:prstGeom>
          <a:solidFill>
            <a:srgbClr val="BEBEB8"/>
          </a:solidFill>
          <a:ln w="19050">
            <a:solidFill>
              <a:srgbClr val="BEBE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Refero Styles" descr="referostyles.png"/>
          <p:cNvPicPr>
            <a:picLocks noChangeAspect="1"/>
          </p:cNvPicPr>
          <p:nvPr/>
        </p:nvPicPr>
        <p:blipFill>
          <a:blip r:embed="rId2"/>
          <a:srcRect/>
          <a:stretch>
            <a:fillRect/>
          </a:stretch>
        </p:blipFill>
        <p:spPr>
          <a:xfrm>
            <a:off x="914400" y="2191940"/>
            <a:ext cx="10572750" cy="6607968"/>
          </a:xfrm>
          <a:prstGeom prst="rect">
            <a:avLst/>
          </a:prstGeom>
        </p:spPr>
      </p:pic>
      <p:sp>
        <p:nvSpPr>
          <p:cNvPr id="12" name="TextBox 11"/>
          <p:cNvSpPr txBox="1"/>
          <p:nvPr/>
        </p:nvSpPr>
        <p:spPr>
          <a:xfrm>
            <a:off x="914400" y="8915400"/>
            <a:ext cx="10572750" cy="400050"/>
          </a:xfrm>
          <a:prstGeom prst="rect">
            <a:avLst/>
          </a:prstGeom>
          <a:noFill/>
        </p:spPr>
        <p:txBody>
          <a:bodyPr wrap="square" lIns="0" rIns="0" tIns="0" bIns="0" anchor="t">
            <a:spAutoFit/>
          </a:bodyPr>
          <a:lstStyle/>
          <a:p>
            <a:pPr algn="ctr">
              <a:lnSpc>
                <a:spcPct val="115000"/>
              </a:lnSpc>
              <a:spcBef>
                <a:spcPts val="0"/>
              </a:spcBef>
              <a:spcAft>
                <a:spcPts val="0"/>
              </a:spcAft>
              <a:defRPr sz="1650" b="0">
                <a:solidFill>
                  <a:srgbClr val="756F65"/>
                </a:solidFill>
                <a:latin typeface="Pretendard"/>
              </a:defRPr>
            </a:pPr>
            <a:r>
              <a:rPr lang="ko-KR">
                <a:ea typeface="Pretendard"/>
              </a:rPr>
              <a:t>Refero Styles</a:t>
            </a:r>
          </a:p>
        </p:txBody>
      </p:sp>
      <p:sp>
        <p:nvSpPr>
          <p:cNvPr id="13" name="TextBox 12"/>
          <p:cNvSpPr txBox="1"/>
          <p:nvPr/>
        </p:nvSpPr>
        <p:spPr>
          <a:xfrm>
            <a:off x="13001625" y="3162300"/>
            <a:ext cx="3714750" cy="571500"/>
          </a:xfrm>
          <a:prstGeom prst="rect">
            <a:avLst/>
          </a:prstGeom>
          <a:noFill/>
        </p:spPr>
        <p:txBody>
          <a:bodyPr wrap="square" lIns="0" rIns="0" tIns="0" bIns="0" anchor="t">
            <a:spAutoFit/>
          </a:bodyPr>
          <a:lstStyle/>
          <a:p>
            <a:pPr algn="l">
              <a:lnSpc>
                <a:spcPct val="118000"/>
              </a:lnSpc>
              <a:spcBef>
                <a:spcPts val="0"/>
              </a:spcBef>
              <a:spcAft>
                <a:spcPts val="0"/>
              </a:spcAft>
              <a:defRPr sz="3000" b="0">
                <a:solidFill>
                  <a:srgbClr val="756F65"/>
                </a:solidFill>
                <a:latin typeface="Pretendard"/>
              </a:defRPr>
            </a:pPr>
            <a:r>
              <a:rPr lang="ko-KR">
                <a:ea typeface="Pretendard"/>
              </a:rPr>
              <a:t>DESIGN.md</a:t>
            </a:r>
          </a:p>
        </p:txBody>
      </p:sp>
      <p:sp>
        <p:nvSpPr>
          <p:cNvPr id="14" name="TextBox 13"/>
          <p:cNvSpPr txBox="1"/>
          <p:nvPr/>
        </p:nvSpPr>
        <p:spPr>
          <a:xfrm>
            <a:off x="13001625" y="5391150"/>
            <a:ext cx="3714750" cy="666750"/>
          </a:xfrm>
          <a:prstGeom prst="rect">
            <a:avLst/>
          </a:prstGeom>
          <a:noFill/>
        </p:spPr>
        <p:txBody>
          <a:bodyPr wrap="square" lIns="0" rIns="0" tIns="0" bIns="0" anchor="t">
            <a:spAutoFit/>
          </a:bodyPr>
          <a:lstStyle/>
          <a:p>
            <a:pPr algn="l">
              <a:lnSpc>
                <a:spcPct val="118000"/>
              </a:lnSpc>
              <a:spcBef>
                <a:spcPts val="0"/>
              </a:spcBef>
              <a:spcAft>
                <a:spcPts val="0"/>
              </a:spcAft>
              <a:defRPr sz="3600" b="0">
                <a:solidFill>
                  <a:srgbClr val="756F65"/>
                </a:solidFill>
                <a:latin typeface="Pretendard"/>
              </a:defRPr>
            </a:pPr>
            <a:r>
              <a:rPr lang="ko-KR">
                <a:ea typeface="Pretendard"/>
              </a:rPr>
              <a:t>가나다  Aa</a:t>
            </a:r>
          </a:p>
        </p:txBody>
      </p:sp>
      <p:sp>
        <p:nvSpPr>
          <p:cNvPr id="15" name="TextBox 14"/>
          <p:cNvSpPr txBox="1"/>
          <p:nvPr/>
        </p:nvSpPr>
        <p:spPr>
          <a:xfrm>
            <a:off x="12477750" y="8305800"/>
            <a:ext cx="4857750" cy="571500"/>
          </a:xfrm>
          <a:prstGeom prst="rect">
            <a:avLst/>
          </a:prstGeom>
          <a:noFill/>
        </p:spPr>
        <p:txBody>
          <a:bodyPr wrap="square" lIns="0" rIns="0" tIns="0" bIns="0" anchor="t">
            <a:spAutoFit/>
          </a:bodyPr>
          <a:lstStyle/>
          <a:p>
            <a:pPr algn="l">
              <a:lnSpc>
                <a:spcPct val="118000"/>
              </a:lnSpc>
              <a:spcBef>
                <a:spcPts val="0"/>
              </a:spcBef>
              <a:spcAft>
                <a:spcPts val="0"/>
              </a:spcAft>
              <a:defRPr sz="2250" b="0">
                <a:solidFill>
                  <a:srgbClr val="756F65"/>
                </a:solidFill>
                <a:latin typeface="Pretendard"/>
              </a:defRPr>
            </a:pPr>
            <a:r>
              <a:rPr lang="ko-KR">
                <a:ea typeface="Pretendard"/>
              </a:rPr>
              <a:t>색 · 글꼴 · 간격 · 부품</a:t>
            </a:r>
          </a:p>
        </p:txBody>
      </p:sp>
      <p:sp>
        <p:nvSpPr>
          <p:cNvPr id="16" name="TextBox 15"/>
          <p:cNvSpPr txBox="1"/>
          <p:nvPr/>
        </p:nvSpPr>
        <p:spPr>
          <a:xfrm>
            <a:off x="914400" y="1752600"/>
            <a:ext cx="16459200" cy="419100"/>
          </a:xfrm>
          <a:prstGeom prst="rect">
            <a:avLst/>
          </a:prstGeom>
          <a:noFill/>
        </p:spPr>
        <p:txBody>
          <a:bodyPr wrap="square" lIns="0" rIns="0" tIns="0" bIns="0" anchor="t">
            <a:spAutoFit/>
          </a:bodyPr>
          <a:lstStyle/>
          <a:p>
            <a:pPr algn="l">
              <a:lnSpc>
                <a:spcPct val="140000"/>
              </a:lnSpc>
              <a:spcBef>
                <a:spcPts val="0"/>
              </a:spcBef>
              <a:spcAft>
                <a:spcPts val="0"/>
              </a:spcAft>
              <a:defRPr sz="2100" b="0">
                <a:solidFill>
                  <a:srgbClr val="756F65"/>
                </a:solidFill>
                <a:latin typeface="Pretendard"/>
              </a:defRPr>
            </a:pPr>
            <a:r>
              <a:rPr lang="ko-KR">
                <a:ea typeface="Pretendard"/>
              </a:rPr>
              <a:t>확정한 색과 글꼴, 간격을 문서로 남겨 다음 작업에 재사용한다.</a:t>
            </a:r>
          </a:p>
        </p:txBody>
      </p:sp>
      <p:sp>
        <p:nvSpPr>
          <p:cNvPr id="17" name="TextBox 16"/>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18" name="TextBox 17"/>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19" name="TextBox 18"/>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38 / 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914400" y="381000"/>
            <a:ext cx="16192499" cy="285750"/>
          </a:xfrm>
          <a:prstGeom prst="rect">
            <a:avLst/>
          </a:prstGeom>
          <a:noFill/>
        </p:spPr>
        <p:txBody>
          <a:bodyPr wrap="square" lIns="0" rIns="0" tIns="0" bIns="0" anchor="t">
            <a:spAutoFit/>
          </a:bodyPr>
          <a:lstStyle/>
          <a:p>
            <a:pPr algn="l">
              <a:lnSpc>
                <a:spcPct val="115000"/>
              </a:lnSpc>
              <a:spcBef>
                <a:spcPts val="0"/>
              </a:spcBef>
              <a:spcAft>
                <a:spcPts val="0"/>
              </a:spcAft>
              <a:defRPr sz="1350" b="0">
                <a:solidFill>
                  <a:srgbClr val="817A6E"/>
                </a:solidFill>
                <a:latin typeface="Pretendard"/>
              </a:defRPr>
            </a:pPr>
          </a:p>
        </p:txBody>
      </p:sp>
      <p:sp>
        <p:nvSpPr>
          <p:cNvPr id="3" name="TextBox 2"/>
          <p:cNvSpPr txBox="1"/>
          <p:nvPr/>
        </p:nvSpPr>
        <p:spPr>
          <a:xfrm>
            <a:off x="914400" y="838200"/>
            <a:ext cx="16459200" cy="781050"/>
          </a:xfrm>
          <a:prstGeom prst="rect">
            <a:avLst/>
          </a:prstGeom>
          <a:noFill/>
        </p:spPr>
        <p:txBody>
          <a:bodyPr wrap="square" lIns="0" rIns="0" tIns="0" bIns="0" anchor="t">
            <a:spAutoFit/>
          </a:bodyPr>
          <a:lstStyle/>
          <a:p>
            <a:pPr algn="l">
              <a:lnSpc>
                <a:spcPct val="108000"/>
              </a:lnSpc>
              <a:spcBef>
                <a:spcPts val="0"/>
              </a:spcBef>
              <a:spcAft>
                <a:spcPts val="0"/>
              </a:spcAft>
              <a:defRPr sz="5100" b="1">
                <a:solidFill>
                  <a:srgbClr val="24231F"/>
                </a:solidFill>
                <a:latin typeface="Pretendard"/>
              </a:defRPr>
            </a:pPr>
          </a:p>
        </p:txBody>
      </p:sp>
      <p:pic>
        <p:nvPicPr>
          <p:cNvPr id="4" name="ai-sw-design-collection" descr="ai-sw-design-collection.png"/>
          <p:cNvPicPr>
            <a:picLocks noChangeAspect="1"/>
          </p:cNvPicPr>
          <p:nvPr/>
        </p:nvPicPr>
        <p:blipFill>
          <a:blip r:embed="rId2"/>
          <a:srcRect/>
          <a:stretch>
            <a:fillRect/>
          </a:stretch>
        </p:blipFill>
        <p:spPr>
          <a:xfrm>
            <a:off x="1871418" y="190500"/>
            <a:ext cx="14545162" cy="9334500"/>
          </a:xfrm>
          <a:prstGeom prst="rect">
            <a:avLst/>
          </a:prstGeom>
        </p:spPr>
      </p:pic>
      <p:sp>
        <p:nvSpPr>
          <p:cNvPr id="5" name="TextBox 4"/>
          <p:cNvSpPr txBox="1"/>
          <p:nvPr/>
        </p:nvSpPr>
        <p:spPr>
          <a:xfrm>
            <a:off x="914400" y="9810750"/>
            <a:ext cx="4762500" cy="285750"/>
          </a:xfrm>
          <a:prstGeom prst="rect">
            <a:avLst/>
          </a:prstGeom>
          <a:noFill/>
        </p:spPr>
        <p:txBody>
          <a:bodyPr wrap="square" lIns="0" rIns="0" tIns="0" bIns="0" anchor="t">
            <a:spAutoFit/>
          </a:bodyPr>
          <a:lstStyle/>
          <a:p>
            <a:pPr algn="l">
              <a:lnSpc>
                <a:spcPct val="115000"/>
              </a:lnSpc>
              <a:spcBef>
                <a:spcPts val="0"/>
              </a:spcBef>
              <a:spcAft>
                <a:spcPts val="0"/>
              </a:spcAft>
              <a:defRPr sz="1275" b="0">
                <a:solidFill>
                  <a:srgbClr val="817A6E"/>
                </a:solidFill>
                <a:latin typeface="Pretendard"/>
              </a:defRPr>
            </a:pPr>
            <a:r>
              <a:rPr lang="ko-KR">
                <a:ea typeface="Pretendard"/>
              </a:rPr>
              <a:t>DESIGN EYE</a:t>
            </a:r>
          </a:p>
        </p:txBody>
      </p:sp>
      <p:sp>
        <p:nvSpPr>
          <p:cNvPr id="6" name="TextBox 5"/>
          <p:cNvSpPr txBox="1"/>
          <p:nvPr/>
        </p:nvSpPr>
        <p:spPr>
          <a:xfrm>
            <a:off x="5524500" y="9810750"/>
            <a:ext cx="7239000" cy="285750"/>
          </a:xfrm>
          <a:prstGeom prst="rect">
            <a:avLst/>
          </a:prstGeom>
          <a:noFill/>
        </p:spPr>
        <p:txBody>
          <a:bodyPr wrap="square" lIns="0" rIns="0" tIns="0" bIns="0" anchor="t">
            <a:spAutoFit/>
          </a:bodyPr>
          <a:lstStyle/>
          <a:p>
            <a:pPr algn="ctr">
              <a:lnSpc>
                <a:spcPct val="115000"/>
              </a:lnSpc>
              <a:spcBef>
                <a:spcPts val="0"/>
              </a:spcBef>
              <a:spcAft>
                <a:spcPts val="0"/>
              </a:spcAft>
              <a:defRPr sz="1275" b="0">
                <a:solidFill>
                  <a:srgbClr val="817A6E"/>
                </a:solidFill>
                <a:latin typeface="Pretendard"/>
              </a:defRPr>
            </a:pPr>
            <a:r>
              <a:rPr lang="ko-KR">
                <a:ea typeface="Pretendard"/>
              </a:rPr>
              <a:t>03  Claude Code 실전</a:t>
            </a:r>
          </a:p>
        </p:txBody>
      </p:sp>
      <p:sp>
        <p:nvSpPr>
          <p:cNvPr id="7" name="TextBox 6"/>
          <p:cNvSpPr txBox="1"/>
          <p:nvPr/>
        </p:nvSpPr>
        <p:spPr>
          <a:xfrm>
            <a:off x="15525750" y="9810750"/>
            <a:ext cx="1847850" cy="285750"/>
          </a:xfrm>
          <a:prstGeom prst="rect">
            <a:avLst/>
          </a:prstGeom>
          <a:noFill/>
        </p:spPr>
        <p:txBody>
          <a:bodyPr wrap="square" lIns="0" rIns="0" tIns="0" bIns="0" anchor="t">
            <a:spAutoFit/>
          </a:bodyPr>
          <a:lstStyle/>
          <a:p>
            <a:pPr algn="r">
              <a:lnSpc>
                <a:spcPct val="115000"/>
              </a:lnSpc>
              <a:spcBef>
                <a:spcPts val="0"/>
              </a:spcBef>
              <a:spcAft>
                <a:spcPts val="0"/>
              </a:spcAft>
              <a:defRPr sz="1275" b="0">
                <a:solidFill>
                  <a:srgbClr val="817A6E"/>
                </a:solidFill>
                <a:latin typeface="Pretendard"/>
              </a:defRPr>
            </a:pPr>
            <a:r>
              <a:rPr lang="ko-KR">
                <a:ea typeface="Pretendard"/>
              </a:rPr>
              <a:t>39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Claude의 디자인 안목</dc:title>
  <dc:subject>SLIDE1 → NOTE2 → HOW_DESIGN_FROM_CC</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